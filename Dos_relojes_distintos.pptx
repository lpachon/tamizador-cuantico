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8" r:id="rId50"/>
    <p:sldId id="299" r:id="rId51"/>
    <p:sldId id="300" r:id="rId52"/>
    <p:sldId id="303" r:id="rId55"/>
    <p:sldId id="304" r:id="rId56"/>
    <p:sldId id="305" r:id="rId57"/>
    <p:sldId id="307" r:id="rId59"/>
    <p:sldId id="308" r:id="rId60"/>
    <p:sldId id="309" r:id="rId61"/>
    <p:sldId id="310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white-field"/>
          <p:cNvSpPr/>
          <p:nvPr/>
        </p:nvSpPr>
        <p:spPr>
          <a:xfrm>
            <a:off x="0" y="0"/>
            <a:ext cx="623620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cover-brand-bar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cover-kicker"/>
          <p:cNvSpPr txBox="1"/>
          <p:nvPr/>
        </p:nvSpPr>
        <p:spPr>
          <a:xfrm>
            <a:off x="594360" y="612648"/>
            <a:ext cx="45720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5" name="cover-title"/>
          <p:cNvSpPr txBox="1"/>
          <p:nvPr/>
        </p:nvSpPr>
        <p:spPr>
          <a:xfrm>
            <a:off x="594360" y="1426464"/>
            <a:ext cx="5367528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550" b="1">
                <a:solidFill>
                  <a:srgbClr val="3D3D3D"/>
                </a:solidFill>
                <a:latin typeface="Arial"/>
              </a:rPr>
              <a:t>Dos relojes</a:t>
            </a:r>
          </a:p>
          <a:p>
            <a:pPr algn="l">
              <a:lnSpc>
                <a:spcPct val="105000"/>
              </a:lnSpc>
            </a:pPr>
            <a:r>
              <a:rPr sz="5550" b="1">
                <a:solidFill>
                  <a:srgbClr val="3D3D3D"/>
                </a:solidFill>
                <a:latin typeface="Arial"/>
              </a:rPr>
              <a:t>distintos.</a:t>
            </a:r>
          </a:p>
          <a:p>
            <a:pPr algn="l">
              <a:lnSpc>
                <a:spcPct val="105000"/>
              </a:lnSpc>
            </a:pPr>
            <a:r>
              <a:rPr sz="5550" b="1">
                <a:solidFill>
                  <a:srgbClr val="3D3D3D"/>
                </a:solidFill>
                <a:latin typeface="Arial"/>
              </a:rPr>
              <a:t>Uno ya corre.</a:t>
            </a:r>
          </a:p>
        </p:txBody>
      </p:sp>
      <p:sp>
        <p:nvSpPr>
          <p:cNvPr id="6" name="cover-subtitle"/>
          <p:cNvSpPr txBox="1"/>
          <p:nvPr/>
        </p:nvSpPr>
        <p:spPr>
          <a:xfrm>
            <a:off x="594360" y="4764024"/>
            <a:ext cx="52760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0">
                <a:solidFill>
                  <a:srgbClr val="0B2D43"/>
                </a:solidFill>
                <a:latin typeface="Arial"/>
              </a:rPr>
              <a:t>Criptografía post-cuántica y optimización:</a:t>
            </a:r>
          </a:p>
          <a:p>
            <a:pPr algn="l">
              <a:lnSpc>
                <a:spcPct val="115000"/>
              </a:lnSpc>
            </a:pPr>
            <a:r>
              <a:rPr sz="1950" b="0">
                <a:solidFill>
                  <a:srgbClr val="0B2D43"/>
                </a:solidFill>
                <a:latin typeface="Arial"/>
              </a:rPr>
              <a:t>qué hacer hoy y qué esperar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Por dónde vamos a pasar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02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Dos de los tramos son prácticos: usted va a correr código en su propio portátil.</a:t>
            </a:r>
          </a:p>
        </p:txBody>
      </p:sp>
      <p:sp>
        <p:nvSpPr>
          <p:cNvPr id="7" name="row-num-0"/>
          <p:cNvSpPr txBox="1"/>
          <p:nvPr/>
        </p:nvSpPr>
        <p:spPr>
          <a:xfrm>
            <a:off x="530352" y="2606040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01</a:t>
            </a:r>
          </a:p>
        </p:txBody>
      </p:sp>
      <p:sp>
        <p:nvSpPr>
          <p:cNvPr id="8" name="row-title-0"/>
          <p:cNvSpPr txBox="1"/>
          <p:nvPr/>
        </p:nvSpPr>
        <p:spPr>
          <a:xfrm>
            <a:off x="1353312" y="2606040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Qué cambia de verdad</a:t>
            </a:r>
          </a:p>
        </p:txBody>
      </p:sp>
      <p:sp>
        <p:nvSpPr>
          <p:cNvPr id="9" name="row-copy-0"/>
          <p:cNvSpPr txBox="1"/>
          <p:nvPr/>
        </p:nvSpPr>
        <p:spPr>
          <a:xfrm>
            <a:off x="4754880" y="2606040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Compuertas, universalidad e interferencia, y qué demostró Google exactamente.</a:t>
            </a:r>
          </a:p>
        </p:txBody>
      </p:sp>
      <p:sp>
        <p:nvSpPr>
          <p:cNvPr id="10" name="row-rule-0"/>
          <p:cNvSpPr/>
          <p:nvPr/>
        </p:nvSpPr>
        <p:spPr>
          <a:xfrm>
            <a:off x="1353312" y="3200400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w-num-1"/>
          <p:cNvSpPr txBox="1"/>
          <p:nvPr/>
        </p:nvSpPr>
        <p:spPr>
          <a:xfrm>
            <a:off x="530352" y="3319272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02</a:t>
            </a:r>
          </a:p>
        </p:txBody>
      </p:sp>
      <p:sp>
        <p:nvSpPr>
          <p:cNvPr id="12" name="row-title-1"/>
          <p:cNvSpPr txBox="1"/>
          <p:nvPr/>
        </p:nvSpPr>
        <p:spPr>
          <a:xfrm>
            <a:off x="1353312" y="331927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El reloj que ya corre</a:t>
            </a:r>
          </a:p>
        </p:txBody>
      </p:sp>
      <p:sp>
        <p:nvSpPr>
          <p:cNvPr id="13" name="row-copy-1"/>
          <p:cNvSpPr txBox="1"/>
          <p:nvPr/>
        </p:nvSpPr>
        <p:spPr>
          <a:xfrm>
            <a:off x="4754880" y="3319272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Criptografía post-cuántica: la única tarea de esta charla que tiene fecha.</a:t>
            </a:r>
          </a:p>
        </p:txBody>
      </p:sp>
      <p:sp>
        <p:nvSpPr>
          <p:cNvPr id="14" name="row-rule-1"/>
          <p:cNvSpPr/>
          <p:nvPr/>
        </p:nvSpPr>
        <p:spPr>
          <a:xfrm>
            <a:off x="1353312" y="3913632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w-num-2"/>
          <p:cNvSpPr txBox="1"/>
          <p:nvPr/>
        </p:nvSpPr>
        <p:spPr>
          <a:xfrm>
            <a:off x="530352" y="4032504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03</a:t>
            </a:r>
          </a:p>
        </p:txBody>
      </p:sp>
      <p:sp>
        <p:nvSpPr>
          <p:cNvPr id="16" name="row-title-2"/>
          <p:cNvSpPr txBox="1"/>
          <p:nvPr/>
        </p:nvSpPr>
        <p:spPr>
          <a:xfrm>
            <a:off x="1353312" y="4032504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El caso A320</a:t>
            </a:r>
          </a:p>
        </p:txBody>
      </p:sp>
      <p:sp>
        <p:nvSpPr>
          <p:cNvPr id="17" name="row-copy-2"/>
          <p:cNvSpPr txBox="1"/>
          <p:nvPr/>
        </p:nvSpPr>
        <p:spPr>
          <a:xfrm>
            <a:off x="4754880" y="4032504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Un proyecto real, de principio a fin: cómo se estructura y dónde aparece el muro.</a:t>
            </a:r>
          </a:p>
        </p:txBody>
      </p:sp>
      <p:sp>
        <p:nvSpPr>
          <p:cNvPr id="18" name="row-rule-2"/>
          <p:cNvSpPr/>
          <p:nvPr/>
        </p:nvSpPr>
        <p:spPr>
          <a:xfrm>
            <a:off x="1353312" y="4626864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w-num-3"/>
          <p:cNvSpPr txBox="1"/>
          <p:nvPr/>
        </p:nvSpPr>
        <p:spPr>
          <a:xfrm>
            <a:off x="530352" y="4745736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04</a:t>
            </a:r>
          </a:p>
        </p:txBody>
      </p:sp>
      <p:sp>
        <p:nvSpPr>
          <p:cNvPr id="20" name="row-title-3"/>
          <p:cNvSpPr txBox="1"/>
          <p:nvPr/>
        </p:nvSpPr>
        <p:spPr>
          <a:xfrm>
            <a:off x="1353312" y="4745736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Tamice su problema</a:t>
            </a:r>
          </a:p>
        </p:txBody>
      </p:sp>
      <p:sp>
        <p:nvSpPr>
          <p:cNvPr id="21" name="row-copy-3"/>
          <p:cNvSpPr txBox="1"/>
          <p:nvPr/>
        </p:nvSpPr>
        <p:spPr>
          <a:xfrm>
            <a:off x="4754880" y="4745736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Ejercicio con la herramienta que se lleva puesta.</a:t>
            </a:r>
          </a:p>
        </p:txBody>
      </p:sp>
      <p:sp>
        <p:nvSpPr>
          <p:cNvPr id="22" name="row-rule-3"/>
          <p:cNvSpPr/>
          <p:nvPr/>
        </p:nvSpPr>
        <p:spPr>
          <a:xfrm>
            <a:off x="1353312" y="5340096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w-num-4"/>
          <p:cNvSpPr txBox="1"/>
          <p:nvPr/>
        </p:nvSpPr>
        <p:spPr>
          <a:xfrm>
            <a:off x="530352" y="5458968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05</a:t>
            </a:r>
          </a:p>
        </p:txBody>
      </p:sp>
      <p:sp>
        <p:nvSpPr>
          <p:cNvPr id="24" name="row-title-4"/>
          <p:cNvSpPr txBox="1"/>
          <p:nvPr/>
        </p:nvSpPr>
        <p:spPr>
          <a:xfrm>
            <a:off x="1353312" y="5458968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Lo que no dé tiempo</a:t>
            </a:r>
          </a:p>
        </p:txBody>
      </p:sp>
      <p:sp>
        <p:nvSpPr>
          <p:cNvPr id="25" name="row-copy-4"/>
          <p:cNvSpPr txBox="1"/>
          <p:nvPr/>
        </p:nvSpPr>
        <p:spPr>
          <a:xfrm>
            <a:off x="4754880" y="5458968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Se queda en estas diapositivas, con notas, para leer después o en otra sesión.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Las siglas que va a oír hoy, y qué significan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03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No hace falta memorizarlas. Están aquí para que vuelva cuando alguien se las suelte en una reunión.</a:t>
            </a:r>
          </a:p>
        </p:txBody>
      </p:sp>
      <p:graphicFrame>
        <p:nvGraphicFramePr>
          <p:cNvPr id="7" name="emertech-table"/>
          <p:cNvGraphicFramePr>
            <a:graphicFrameLocks noGrp="1"/>
          </p:cNvGraphicFramePr>
          <p:nvPr/>
        </p:nvGraphicFramePr>
        <p:xfrm>
          <a:off x="530352" y="2395728"/>
          <a:ext cx="11128246" cy="359359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7948"/>
                <a:gridCol w="4195896"/>
                <a:gridCol w="4834402"/>
              </a:tblGrid>
              <a:tr h="3992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Sigla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 dónde viene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Qué es, en una línea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</a:tr>
              <a:tr h="3992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D0034"/>
                          </a:solidFill>
                          <a:latin typeface="Arial"/>
                        </a:rPr>
                        <a:t>RSA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Rivest–Shamir–Adleman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El cifrado que protege casi todo internet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3992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D0034"/>
                          </a:solidFill>
                          <a:latin typeface="Arial"/>
                        </a:rPr>
                        <a:t>TLS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Transport Layer Security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El candado del navegador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3992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D0034"/>
                          </a:solidFill>
                          <a:latin typeface="Arial"/>
                        </a:rPr>
                        <a:t>QUBO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Quadratic Unconstrained Binary Optimization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La única forma de problema que acepta la máquina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3992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D0034"/>
                          </a:solidFill>
                          <a:latin typeface="Arial"/>
                        </a:rPr>
                        <a:t>QAOA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Quantum Approximate Optimization Algorithm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El algoritmo cuántico que probamos en el A320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3992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D0034"/>
                          </a:solidFill>
                          <a:latin typeface="Arial"/>
                        </a:rPr>
                        <a:t>QPU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Quantum Processing Unit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El procesador cuántico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3992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D0034"/>
                          </a:solidFill>
                          <a:latin typeface="Arial"/>
                        </a:rPr>
                        <a:t>ML-KEM  ·  ML-DSA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Module-Lattice · Key Encapsulation / Signature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Los reemplazos aprobados: cifrar y firmar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3992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D0034"/>
                          </a:solidFill>
                          <a:latin typeface="Arial"/>
                        </a:rPr>
                        <a:t>QKD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Quantum Key Distribution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Distribución cuántica de claves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3992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D0034"/>
                          </a:solidFill>
                          <a:latin typeface="Arial"/>
                        </a:rPr>
                        <a:t>LABS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Low Autocorrelation Binary Sequences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26262"/>
                          </a:solidFill>
                          <a:latin typeface="Arial"/>
                        </a:rPr>
                        <a:t>Secuencias usadas en radar y comunicaciones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Dos relojes distintos, y solo uno ya está corriendo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04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La misma tecnología obliga a actuar hoy en un frente y a esperar en el otro. Distinguirlos es la decisión que se lleva de esta hora.</a:t>
            </a:r>
          </a:p>
        </p:txBody>
      </p:sp>
      <p:sp>
        <p:nvSpPr>
          <p:cNvPr id="7" name="panel-bg-0"/>
          <p:cNvSpPr/>
          <p:nvPr/>
        </p:nvSpPr>
        <p:spPr>
          <a:xfrm>
            <a:off x="530352" y="2523744"/>
            <a:ext cx="5285232" cy="3017520"/>
          </a:xfrm>
          <a:prstGeom prst="rect">
            <a:avLst/>
          </a:prstGeom>
          <a:solidFill>
            <a:srgbClr val="FF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anel-title-0"/>
          <p:cNvSpPr txBox="1"/>
          <p:nvPr/>
        </p:nvSpPr>
        <p:spPr>
          <a:xfrm>
            <a:off x="841247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El reloj de la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criptografía</a:t>
            </a:r>
          </a:p>
        </p:txBody>
      </p:sp>
      <p:sp>
        <p:nvSpPr>
          <p:cNvPr id="9" name="panel-note-0"/>
          <p:cNvSpPr txBox="1"/>
          <p:nvPr/>
        </p:nvSpPr>
        <p:spPr>
          <a:xfrm>
            <a:off x="841247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Ya corre. Exige decisión este año.</a:t>
            </a:r>
          </a:p>
        </p:txBody>
      </p:sp>
      <p:sp>
        <p:nvSpPr>
          <p:cNvPr id="10" name="panel-copy-0"/>
          <p:cNvSpPr txBox="1"/>
          <p:nvPr/>
        </p:nvSpPr>
        <p:spPr>
          <a:xfrm>
            <a:off x="841247" y="4434840"/>
            <a:ext cx="466344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La amenaza es real, la respuesta ya está estandarizada y la migración tarda años. Empezar tarde no se puede compensar después.</a:t>
            </a:r>
          </a:p>
        </p:txBody>
      </p:sp>
      <p:sp>
        <p:nvSpPr>
          <p:cNvPr id="11" name="panel-bg-1"/>
          <p:cNvSpPr/>
          <p:nvPr/>
        </p:nvSpPr>
        <p:spPr>
          <a:xfrm>
            <a:off x="6373368" y="2523744"/>
            <a:ext cx="5285232" cy="3017520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anel-title-1"/>
          <p:cNvSpPr txBox="1"/>
          <p:nvPr/>
        </p:nvSpPr>
        <p:spPr>
          <a:xfrm>
            <a:off x="6684264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El reloj de la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optimización</a:t>
            </a:r>
          </a:p>
        </p:txBody>
      </p:sp>
      <p:sp>
        <p:nvSpPr>
          <p:cNvPr id="13" name="panel-note-1"/>
          <p:cNvSpPr txBox="1"/>
          <p:nvPr/>
        </p:nvSpPr>
        <p:spPr>
          <a:xfrm>
            <a:off x="6684264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Todavía no corre.</a:t>
            </a:r>
          </a:p>
        </p:txBody>
      </p:sp>
      <p:sp>
        <p:nvSpPr>
          <p:cNvPr id="14" name="panel-copy-1"/>
          <p:cNvSpPr txBox="1"/>
          <p:nvPr/>
        </p:nvSpPr>
        <p:spPr>
          <a:xfrm>
            <a:off x="6684264" y="4434840"/>
            <a:ext cx="466344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La promesa es real pero la fecha no es hoy. Le voy a mostrar, con un caso que ejecutamos en hardware real, cómo saber cuándo mirar el reloj.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rail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ection-kicker"/>
          <p:cNvSpPr txBox="1"/>
          <p:nvPr/>
        </p:nvSpPr>
        <p:spPr>
          <a:xfrm>
            <a:off x="594360" y="2148840"/>
            <a:ext cx="73152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DEAFA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4" name="section-title"/>
          <p:cNvSpPr txBox="1"/>
          <p:nvPr/>
        </p:nvSpPr>
        <p:spPr>
          <a:xfrm>
            <a:off x="594360" y="274320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Antes de las aplicaciones:</a:t>
            </a:r>
          </a:p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qué cambia de verdad</a:t>
            </a:r>
          </a:p>
        </p:txBody>
      </p:sp>
      <p:sp>
        <p:nvSpPr>
          <p:cNvPr id="5" name="section-sub"/>
          <p:cNvSpPr txBox="1"/>
          <p:nvPr/>
        </p:nvSpPr>
        <p:spPr>
          <a:xfrm>
            <a:off x="594360" y="4343400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0">
                <a:solidFill>
                  <a:srgbClr val="CDEAFA"/>
                </a:solidFill>
                <a:latin typeface="Arial"/>
              </a:rPr>
              <a:t>Sin misticismo y sin fórmulas: qué hace distinta a la información cuántica de la clásica.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Una cosa es la teoría; otra, la máquina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06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Información cuántica y computación cuántica no son sinónimos. La distinción explica por qué un reloj ya corre y el otro no.</a:t>
            </a:r>
          </a:p>
        </p:txBody>
      </p:sp>
      <p:sp>
        <p:nvSpPr>
          <p:cNvPr id="7" name="panel-bg-0"/>
          <p:cNvSpPr/>
          <p:nvPr/>
        </p:nvSpPr>
        <p:spPr>
          <a:xfrm>
            <a:off x="530352" y="2523744"/>
            <a:ext cx="5285232" cy="285292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anel-title-0"/>
          <p:cNvSpPr txBox="1"/>
          <p:nvPr/>
        </p:nvSpPr>
        <p:spPr>
          <a:xfrm>
            <a:off x="841247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Información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cuántica</a:t>
            </a:r>
          </a:p>
        </p:txBody>
      </p:sp>
      <p:sp>
        <p:nvSpPr>
          <p:cNvPr id="9" name="panel-note-0"/>
          <p:cNvSpPr txBox="1"/>
          <p:nvPr/>
        </p:nvSpPr>
        <p:spPr>
          <a:xfrm>
            <a:off x="841247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La teoría y los algoritmos</a:t>
            </a:r>
          </a:p>
        </p:txBody>
      </p:sp>
      <p:sp>
        <p:nvSpPr>
          <p:cNvPr id="10" name="panel-copy-0"/>
          <p:cNvSpPr txBox="1"/>
          <p:nvPr/>
        </p:nvSpPr>
        <p:spPr>
          <a:xfrm>
            <a:off x="841247" y="4434840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Qué se puede saber, copiar, transmitir y proteger — y qué algoritmos existirían si hubiera máquina. Está hecha.</a:t>
            </a:r>
          </a:p>
        </p:txBody>
      </p:sp>
      <p:sp>
        <p:nvSpPr>
          <p:cNvPr id="11" name="panel-bg-1"/>
          <p:cNvSpPr/>
          <p:nvPr/>
        </p:nvSpPr>
        <p:spPr>
          <a:xfrm>
            <a:off x="6373368" y="2523744"/>
            <a:ext cx="5285232" cy="2852928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anel-title-1"/>
          <p:cNvSpPr txBox="1"/>
          <p:nvPr/>
        </p:nvSpPr>
        <p:spPr>
          <a:xfrm>
            <a:off x="6684264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Computación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cuántica</a:t>
            </a:r>
          </a:p>
        </p:txBody>
      </p:sp>
      <p:sp>
        <p:nvSpPr>
          <p:cNvPr id="13" name="panel-note-1"/>
          <p:cNvSpPr txBox="1"/>
          <p:nvPr/>
        </p:nvSpPr>
        <p:spPr>
          <a:xfrm>
            <a:off x="6684264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Construir la máquina que los ejecute</a:t>
            </a:r>
          </a:p>
        </p:txBody>
      </p:sp>
      <p:sp>
        <p:nvSpPr>
          <p:cNvPr id="14" name="panel-copy-1"/>
          <p:cNvSpPr txBox="1"/>
          <p:nvPr/>
        </p:nvSpPr>
        <p:spPr>
          <a:xfrm>
            <a:off x="6684264" y="4434840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Qubits, compuertas, ruido y corrección de errores. Es ingeniería, y va muy por detrás de la teoría.</a:t>
            </a:r>
          </a:p>
        </p:txBody>
      </p:sp>
      <p:sp>
        <p:nvSpPr>
          <p:cNvPr id="15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El algoritmo que rompe su criptografía está escrito desde 1994. Lo único que falta es la máquina.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El bit, la onda y el qubit — sin metáforas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07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La potencia de una onda ya va como el cuadrado de una amplitud con signo. El qubit no inventa esa regla: la hereda.</a:t>
            </a:r>
          </a:p>
        </p:txBody>
      </p:sp>
      <p:graphicFrame>
        <p:nvGraphicFramePr>
          <p:cNvPr id="7" name="emertech-table"/>
          <p:cNvGraphicFramePr>
            <a:graphicFrameLocks noGrp="1"/>
          </p:cNvGraphicFramePr>
          <p:nvPr/>
        </p:nvGraphicFramePr>
        <p:xfrm>
          <a:off x="530352" y="2578608"/>
          <a:ext cx="11128246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0378"/>
                <a:gridCol w="2462808"/>
                <a:gridCol w="3192530"/>
                <a:gridCol w="3192530"/>
              </a:tblGrid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Probabilidad clásica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Onda clásica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Qubit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Qué lleva cada rama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Una probabilidad p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Una amplitud: el campo eléctrico E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Una amplitud α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Qué signo admite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Solo positivo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Positivo o negativo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Positivo, negativo o complejo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Qué se mide en realidad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La propia p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La potencia, que va como E²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La probabilidad, que va como |α|²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Al juntar dos caminos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Se suman: nunca se anulan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Se suman y pueden cancelarse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Se suman y pueden cancelarse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Dónde lo ha visto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Una moneda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Auriculares con cancelación de ruido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8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Una onda clásica ya interfiere — pero en el espacio de tres dimensiones. Con n qubits, la interferencia ocurre entre sus 2ⁿ configuraciones.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Dos ondas que se suman: eso ya lo ha visto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08</a:t>
            </a:r>
          </a:p>
        </p:txBody>
      </p:sp>
      <p:pic>
        <p:nvPicPr>
          <p:cNvPr id="6" name="Picture 5" descr="ondas_inter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65960"/>
            <a:ext cx="11128248" cy="39454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La computación clásica universal se hace con estas piezas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09</a:t>
            </a:r>
          </a:p>
        </p:txBody>
      </p:sp>
      <p:pic>
        <p:nvPicPr>
          <p:cNvPr id="6" name="Picture 5" descr="compuertas_clas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697480"/>
            <a:ext cx="11128248" cy="26707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Y con una sola de ellas bastaría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nand_uni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31720"/>
            <a:ext cx="11128248" cy="2680896"/>
          </a:xfrm>
          <a:prstGeom prst="rect">
            <a:avLst/>
          </a:prstGeom>
        </p:spPr>
      </p:pic>
      <p:sp>
        <p:nvSpPr>
          <p:cNvPr id="7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Universalidad: un juego mínimo de piezas agota todo lo computable. La pregunta cuántica es exactamente la misma, con otras piezas.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La ley que no se puede esquivar: borrar destruye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11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Las dos compuertas de abajo son clásicas. Lo que las separa no es la cuántica: es la reversibilidad, y su precio es un cable de más.</a:t>
            </a:r>
          </a:p>
        </p:txBody>
      </p:sp>
      <p:pic>
        <p:nvPicPr>
          <p:cNvPr id="7" name="Picture 6" descr="compuertas_reversi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94" y="2487168"/>
            <a:ext cx="8921363" cy="37307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Y ahora sí, la regla que cambia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12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Hasta aquí todo era clásico. Lo cuántico empieza con una compuerta que no se puede describir con una tabla de verdad.</a:t>
            </a:r>
          </a:p>
        </p:txBody>
      </p:sp>
      <p:sp>
        <p:nvSpPr>
          <p:cNvPr id="7" name="panel-bg-0"/>
          <p:cNvSpPr/>
          <p:nvPr/>
        </p:nvSpPr>
        <p:spPr>
          <a:xfrm>
            <a:off x="530352" y="2523744"/>
            <a:ext cx="5285232" cy="285292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anel-title-0"/>
          <p:cNvSpPr txBox="1"/>
          <p:nvPr/>
        </p:nvSpPr>
        <p:spPr>
          <a:xfrm>
            <a:off x="841247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Toda compuerta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clásica</a:t>
            </a:r>
          </a:p>
        </p:txBody>
      </p:sp>
      <p:sp>
        <p:nvSpPr>
          <p:cNvPr id="9" name="panel-note-0"/>
          <p:cNvSpPr txBox="1"/>
          <p:nvPr/>
        </p:nvSpPr>
        <p:spPr>
          <a:xfrm>
            <a:off x="841247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Tiene tabla de verdad</a:t>
            </a:r>
          </a:p>
        </p:txBody>
      </p:sp>
      <p:sp>
        <p:nvSpPr>
          <p:cNvPr id="10" name="panel-copy-0"/>
          <p:cNvSpPr txBox="1"/>
          <p:nvPr/>
        </p:nvSpPr>
        <p:spPr>
          <a:xfrm>
            <a:off x="841247" y="4434840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Entra 0 o 1, sale 0 o 1. La tabla entera cabe en una servilleta: son cuatro filas y no hay más.</a:t>
            </a:r>
          </a:p>
        </p:txBody>
      </p:sp>
      <p:sp>
        <p:nvSpPr>
          <p:cNvPr id="11" name="panel-bg-1"/>
          <p:cNvSpPr/>
          <p:nvPr/>
        </p:nvSpPr>
        <p:spPr>
          <a:xfrm>
            <a:off x="6373368" y="2523744"/>
            <a:ext cx="5285232" cy="2852928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anel-title-1"/>
          <p:cNvSpPr txBox="1"/>
          <p:nvPr/>
        </p:nvSpPr>
        <p:spPr>
          <a:xfrm>
            <a:off x="6684264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Hadamard</a:t>
            </a:r>
          </a:p>
        </p:txBody>
      </p:sp>
      <p:sp>
        <p:nvSpPr>
          <p:cNvPr id="13" name="panel-note-1"/>
          <p:cNvSpPr txBox="1"/>
          <p:nvPr/>
        </p:nvSpPr>
        <p:spPr>
          <a:xfrm>
            <a:off x="6684264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No puede tenerla</a:t>
            </a:r>
          </a:p>
        </p:txBody>
      </p:sp>
      <p:sp>
        <p:nvSpPr>
          <p:cNvPr id="14" name="panel-copy-1"/>
          <p:cNvSpPr txBox="1"/>
          <p:nvPr/>
        </p:nvSpPr>
        <p:spPr>
          <a:xfrm>
            <a:off x="6684264" y="4434840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Entra un 0 y no sale ni 0 ni 1: sale una amplitud. La tabla no existe porque la salida ya no es un bit.</a:t>
            </a:r>
          </a:p>
        </p:txBody>
      </p:sp>
      <p:sp>
        <p:nvSpPr>
          <p:cNvPr id="15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Ahí cambia la regla — y con ella aparece lo único que ningún circuito clásico puede hacer: cancelar.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Dos compuertas no son dos lanzamientos de moneda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hh_inter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5" y="1874519"/>
            <a:ext cx="100584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Compruébelo usted mismo, ahora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14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Cinco líneas de Qiskit en su portátil. Sin cuenta de IBM, sin hardware: el simulador local basta.</a:t>
            </a:r>
          </a:p>
        </p:txBody>
      </p:sp>
      <p:sp>
        <p:nvSpPr>
          <p:cNvPr id="7" name="card-bg-0"/>
          <p:cNvSpPr/>
          <p:nvPr/>
        </p:nvSpPr>
        <p:spPr>
          <a:xfrm>
            <a:off x="530352" y="2560320"/>
            <a:ext cx="3429000" cy="2560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card-num-0"/>
          <p:cNvSpPr txBox="1"/>
          <p:nvPr/>
        </p:nvSpPr>
        <p:spPr>
          <a:xfrm>
            <a:off x="758952" y="2770632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01</a:t>
            </a:r>
          </a:p>
        </p:txBody>
      </p:sp>
      <p:sp>
        <p:nvSpPr>
          <p:cNvPr id="9" name="card-title-0"/>
          <p:cNvSpPr txBox="1"/>
          <p:nvPr/>
        </p:nvSpPr>
        <p:spPr>
          <a:xfrm>
            <a:off x="758952" y="3273552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Moneda, 2 tiros</a:t>
            </a:r>
          </a:p>
        </p:txBody>
      </p:sp>
      <p:sp>
        <p:nvSpPr>
          <p:cNvPr id="10" name="card-copy-0"/>
          <p:cNvSpPr txBox="1"/>
          <p:nvPr/>
        </p:nvSpPr>
        <p:spPr>
          <a:xfrm>
            <a:off x="758952" y="4069080"/>
            <a:ext cx="29443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0: 49,8 %    1: 50,2 %
El azar clásico no recuerda nada.</a:t>
            </a:r>
          </a:p>
        </p:txBody>
      </p:sp>
      <p:sp>
        <p:nvSpPr>
          <p:cNvPr id="11" name="card-bg-1"/>
          <p:cNvSpPr/>
          <p:nvPr/>
        </p:nvSpPr>
        <p:spPr>
          <a:xfrm>
            <a:off x="4379976" y="2560320"/>
            <a:ext cx="3429000" cy="2560320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card-num-1"/>
          <p:cNvSpPr txBox="1"/>
          <p:nvPr/>
        </p:nvSpPr>
        <p:spPr>
          <a:xfrm>
            <a:off x="4608576" y="2770632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02</a:t>
            </a:r>
          </a:p>
        </p:txBody>
      </p:sp>
      <p:sp>
        <p:nvSpPr>
          <p:cNvPr id="13" name="card-title-1"/>
          <p:cNvSpPr txBox="1"/>
          <p:nvPr/>
        </p:nvSpPr>
        <p:spPr>
          <a:xfrm>
            <a:off x="4608576" y="3273552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Qubit, 1 compuerta</a:t>
            </a:r>
          </a:p>
        </p:txBody>
      </p:sp>
      <p:sp>
        <p:nvSpPr>
          <p:cNvPr id="14" name="card-copy-1"/>
          <p:cNvSpPr txBox="1"/>
          <p:nvPr/>
        </p:nvSpPr>
        <p:spPr>
          <a:xfrm>
            <a:off x="4608576" y="4069080"/>
            <a:ext cx="29443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0: 49,6 %    1: 50,4 %
Indistinguible de la moneda.</a:t>
            </a:r>
          </a:p>
        </p:txBody>
      </p:sp>
      <p:sp>
        <p:nvSpPr>
          <p:cNvPr id="15" name="card-bg-2"/>
          <p:cNvSpPr/>
          <p:nvPr/>
        </p:nvSpPr>
        <p:spPr>
          <a:xfrm>
            <a:off x="8229600" y="2560320"/>
            <a:ext cx="3429000" cy="2560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card-num-2"/>
          <p:cNvSpPr txBox="1"/>
          <p:nvPr/>
        </p:nvSpPr>
        <p:spPr>
          <a:xfrm>
            <a:off x="8458200" y="2770632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03</a:t>
            </a:r>
          </a:p>
        </p:txBody>
      </p:sp>
      <p:sp>
        <p:nvSpPr>
          <p:cNvPr id="17" name="card-title-2"/>
          <p:cNvSpPr txBox="1"/>
          <p:nvPr/>
        </p:nvSpPr>
        <p:spPr>
          <a:xfrm>
            <a:off x="8458200" y="3273552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Qubit, 2 compuertas</a:t>
            </a:r>
          </a:p>
        </p:txBody>
      </p:sp>
      <p:sp>
        <p:nvSpPr>
          <p:cNvPr id="18" name="card-copy-2"/>
          <p:cNvSpPr txBox="1"/>
          <p:nvPr/>
        </p:nvSpPr>
        <p:spPr>
          <a:xfrm>
            <a:off x="8458200" y="4069080"/>
            <a:ext cx="29443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0: 100 %    1: 0 %
La segunda deshizo la primera.</a:t>
            </a:r>
          </a:p>
        </p:txBody>
      </p:sp>
      <p:sp>
        <p:nvSpPr>
          <p:cNvPr id="19" name="strip-bg"/>
          <p:cNvSpPr/>
          <p:nvPr/>
        </p:nvSpPr>
        <p:spPr>
          <a:xfrm>
            <a:off x="530352" y="5715000"/>
            <a:ext cx="11128248" cy="493776"/>
          </a:xfrm>
          <a:prstGeom prst="rect">
            <a:avLst/>
          </a:prstGeom>
          <a:solidFill>
            <a:srgbClr val="F0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strip-text"/>
          <p:cNvSpPr txBox="1"/>
          <p:nvPr/>
        </p:nvSpPr>
        <p:spPr>
          <a:xfrm>
            <a:off x="722375" y="5815584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E6007C"/>
                </a:solidFill>
                <a:latin typeface="Arial"/>
              </a:rPr>
              <a:t>github.com/lpachon/tamizador-cuantico   ·   python3 demo_interferencia.py   ·   10 minutos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Toffoli más Hadamard: el juego mínimo cuántico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El equivalente cuántico de «basta con NAND»: dos piezas, y ya se puede expresar cualquier algoritmo cuántico.</a:t>
            </a:r>
          </a:p>
        </p:txBody>
      </p:sp>
      <p:sp>
        <p:nvSpPr>
          <p:cNvPr id="7" name="panel-bg-0"/>
          <p:cNvSpPr/>
          <p:nvPr/>
        </p:nvSpPr>
        <p:spPr>
          <a:xfrm>
            <a:off x="530352" y="2523744"/>
            <a:ext cx="5285232" cy="285292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anel-title-0"/>
          <p:cNvSpPr txBox="1"/>
          <p:nvPr/>
        </p:nvSpPr>
        <p:spPr>
          <a:xfrm>
            <a:off x="841247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Solo Toffoli</a:t>
            </a:r>
          </a:p>
        </p:txBody>
      </p:sp>
      <p:sp>
        <p:nvSpPr>
          <p:cNvPr id="9" name="panel-note-0"/>
          <p:cNvSpPr txBox="1"/>
          <p:nvPr/>
        </p:nvSpPr>
        <p:spPr>
          <a:xfrm>
            <a:off x="841247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Un computador reversible, clásico</a:t>
            </a:r>
          </a:p>
        </p:txBody>
      </p:sp>
      <p:sp>
        <p:nvSpPr>
          <p:cNvPr id="10" name="panel-copy-0"/>
          <p:cNvSpPr txBox="1"/>
          <p:nvPr/>
        </p:nvSpPr>
        <p:spPr>
          <a:xfrm>
            <a:off x="841247" y="4434840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Hace todo lo que hace su portátil, sin borrar nada. Pero solo baraja los estados: nada se cancela nunca.</a:t>
            </a:r>
          </a:p>
        </p:txBody>
      </p:sp>
      <p:sp>
        <p:nvSpPr>
          <p:cNvPr id="11" name="panel-bg-1"/>
          <p:cNvSpPr/>
          <p:nvPr/>
        </p:nvSpPr>
        <p:spPr>
          <a:xfrm>
            <a:off x="6373368" y="2523744"/>
            <a:ext cx="5285232" cy="2852928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anel-title-1"/>
          <p:cNvSpPr txBox="1"/>
          <p:nvPr/>
        </p:nvSpPr>
        <p:spPr>
          <a:xfrm>
            <a:off x="6684264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Toffoli + Hadamard</a:t>
            </a:r>
          </a:p>
        </p:txBody>
      </p:sp>
      <p:sp>
        <p:nvSpPr>
          <p:cNvPr id="13" name="panel-note-1"/>
          <p:cNvSpPr txBox="1"/>
          <p:nvPr/>
        </p:nvSpPr>
        <p:spPr>
          <a:xfrm>
            <a:off x="6684264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Un computador cuántico</a:t>
            </a:r>
          </a:p>
        </p:txBody>
      </p:sp>
      <p:sp>
        <p:nvSpPr>
          <p:cNvPr id="14" name="panel-copy-1"/>
          <p:cNvSpPr txBox="1"/>
          <p:nvPr/>
        </p:nvSpPr>
        <p:spPr>
          <a:xfrm>
            <a:off x="6684264" y="4434840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Al añadir Hadamard aparecen las amplitudes negativas, y con ellas la interferencia.</a:t>
            </a:r>
          </a:p>
        </p:txBody>
      </p:sp>
      <p:sp>
        <p:nvSpPr>
          <p:cNvPr id="15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La compuerta que crea la cancelación es justo la que separa un computador reversible de uno cuántico.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Un circuito por problema, o un ordenador universal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16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Las máquinas de IBM ya son universales en su juego de compuertas. En la práctica, todavía no.</a:t>
            </a:r>
          </a:p>
        </p:txBody>
      </p:sp>
      <p:graphicFrame>
        <p:nvGraphicFramePr>
          <p:cNvPr id="7" name="emertech-table"/>
          <p:cNvGraphicFramePr>
            <a:graphicFrameLocks noGrp="1"/>
          </p:cNvGraphicFramePr>
          <p:nvPr/>
        </p:nvGraphicFramePr>
        <p:xfrm>
          <a:off x="530352" y="2606040"/>
          <a:ext cx="11128247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2717"/>
                <a:gridCol w="4660548"/>
                <a:gridCol w="4184982"/>
              </a:tblGrid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Un circuito para cada problema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Un ordenador universal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Clásico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ENIAC, 1945: recablear a mano, días por cálculo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CPU: se escribe software y el hardware no cambia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Cuántico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Aquí estamos hoy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La meta: máquina tolerante a fallos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Quién trabaja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Un físico diseña el circuito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Un programador escribe código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33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Qué se compra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Consultoría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Licencia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Hoy usted no compra computación cuántica: contrata el diseño de un circuito.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Y otras tres cosas cambian dentro del circuito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17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Más allá de la reversibilidad, otras tres reglas cambian — y cada una tiene una consecuencia de ingeniería concreta.</a:t>
            </a:r>
          </a:p>
        </p:txBody>
      </p:sp>
      <p:sp>
        <p:nvSpPr>
          <p:cNvPr id="7" name="rail"/>
          <p:cNvSpPr/>
          <p:nvPr/>
        </p:nvSpPr>
        <p:spPr>
          <a:xfrm>
            <a:off x="740664" y="2944368"/>
            <a:ext cx="91440" cy="2395728"/>
          </a:xfrm>
          <a:prstGeom prst="rect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ail-title-0"/>
          <p:cNvSpPr txBox="1"/>
          <p:nvPr/>
        </p:nvSpPr>
        <p:spPr>
          <a:xfrm>
            <a:off x="1143000" y="2880360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La medición destruye</a:t>
            </a:r>
          </a:p>
        </p:txBody>
      </p:sp>
      <p:sp>
        <p:nvSpPr>
          <p:cNvPr id="9" name="rail-copy-0"/>
          <p:cNvSpPr txBox="1"/>
          <p:nvPr/>
        </p:nvSpPr>
        <p:spPr>
          <a:xfrm>
            <a:off x="4005072" y="2880360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Se obtiene una muestra por corrida y la superposición se pierde. Todo resultado es estadística sobre repeticiones.</a:t>
            </a:r>
          </a:p>
        </p:txBody>
      </p:sp>
      <p:sp>
        <p:nvSpPr>
          <p:cNvPr id="10" name="rail-title-1"/>
          <p:cNvSpPr txBox="1"/>
          <p:nvPr/>
        </p:nvSpPr>
        <p:spPr>
          <a:xfrm>
            <a:off x="1143000" y="3666744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No se puede copiar</a:t>
            </a:r>
          </a:p>
        </p:txBody>
      </p:sp>
      <p:sp>
        <p:nvSpPr>
          <p:cNvPr id="11" name="rail-copy-1"/>
          <p:cNvSpPr txBox="1"/>
          <p:nvPr/>
        </p:nvSpPr>
        <p:spPr>
          <a:xfrm>
            <a:off x="4005072" y="3666744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Sin respaldo y sin corregir errores por repetición. Hubo que inventar la corrección de errores desde cero.</a:t>
            </a:r>
          </a:p>
        </p:txBody>
      </p:sp>
      <p:sp>
        <p:nvSpPr>
          <p:cNvPr id="12" name="rail-title-2"/>
          <p:cNvSpPr txBox="1"/>
          <p:nvPr/>
        </p:nvSpPr>
        <p:spPr>
          <a:xfrm>
            <a:off x="1143000" y="4453128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Hay entrelazamiento</a:t>
            </a:r>
          </a:p>
        </p:txBody>
      </p:sp>
      <p:sp>
        <p:nvSpPr>
          <p:cNvPr id="13" name="rail-copy-2"/>
          <p:cNvSpPr txBox="1"/>
          <p:nvPr/>
        </p:nvSpPr>
        <p:spPr>
          <a:xfrm>
            <a:off x="4005072" y="4453128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Correlaciones más fuertes que cualquier estrategia clásica de azar compartido. Confirmado en laboratorio; Nobel de Física 2022.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Lo que se suele decir y lo que realmente pasa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18</a:t>
            </a:r>
          </a:p>
        </p:txBody>
      </p:sp>
      <p:graphicFrame>
        <p:nvGraphicFramePr>
          <p:cNvPr id="6" name="emertech-table"/>
          <p:cNvGraphicFramePr>
            <a:graphicFrameLocks noGrp="1"/>
          </p:cNvGraphicFramePr>
          <p:nvPr/>
        </p:nvGraphicFramePr>
        <p:xfrm>
          <a:off x="530352" y="2468880"/>
          <a:ext cx="11128247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51299"/>
                <a:gridCol w="6676948"/>
              </a:tblGrid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Lo que se suele decir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Lo que realmente pasa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DD0034"/>
                          </a:solidFill>
                          <a:latin typeface="Arial"/>
                        </a:rPr>
                        <a:t>«Prueba todas las respuestas a la vez»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626262"/>
                          </a:solidFill>
                          <a:latin typeface="Arial"/>
                        </a:rPr>
                        <a:t>La medición devuelve UNA, al azar. La superposición no se puede leer.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DD0034"/>
                          </a:solidFill>
                          <a:latin typeface="Arial"/>
                        </a:rPr>
                        <a:t>«Es un computador mucho más rápido»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626262"/>
                          </a:solidFill>
                          <a:latin typeface="Arial"/>
                        </a:rPr>
                        <a:t>Cancela las respuestas equivocadas — si el problema deja que se cancelen.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DD0034"/>
                          </a:solidFill>
                          <a:latin typeface="Arial"/>
                        </a:rPr>
                        <a:t>«Cuantos más qubits, más potencia»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626262"/>
                          </a:solidFill>
                          <a:latin typeface="Arial"/>
                        </a:rPr>
                        <a:t>Sin corrección de errores, más qubits también significa más ruido.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331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DD0034"/>
                          </a:solidFill>
                          <a:latin typeface="Arial"/>
                        </a:rPr>
                        <a:t>«Ya está rompiendo la criptografía»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626262"/>
                          </a:solidFill>
                          <a:latin typeface="Arial"/>
                        </a:rPr>
                        <a:t>Todavía no. El algoritmo existe desde 1994; la máquina, no.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¿Qué es exactamente «lo que sobra»?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19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Son las respuestas equivocadas. Y lo que importa es que se cancelan solas, sin que nadie sepa de antemano cuál era la buena.</a:t>
            </a:r>
          </a:p>
        </p:txBody>
      </p:sp>
      <p:sp>
        <p:nvSpPr>
          <p:cNvPr id="7" name="row-num-0"/>
          <p:cNvSpPr txBox="1"/>
          <p:nvPr/>
        </p:nvSpPr>
        <p:spPr>
          <a:xfrm>
            <a:off x="530352" y="2560320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01</a:t>
            </a:r>
          </a:p>
        </p:txBody>
      </p:sp>
      <p:sp>
        <p:nvSpPr>
          <p:cNvPr id="8" name="row-title-0"/>
          <p:cNvSpPr txBox="1"/>
          <p:nvPr/>
        </p:nvSpPr>
        <p:spPr>
          <a:xfrm>
            <a:off x="1353312" y="2560320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Un sintonizador de radio</a:t>
            </a:r>
          </a:p>
        </p:txBody>
      </p:sp>
      <p:sp>
        <p:nvSpPr>
          <p:cNvPr id="9" name="row-copy-0"/>
          <p:cNvSpPr txBox="1"/>
          <p:nvPr/>
        </p:nvSpPr>
        <p:spPr>
          <a:xfrm>
            <a:off x="4754880" y="2560320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Todas las emisoras llegan a la antena a la vez. El circuito hace que se anulen todas menos una. Usted no busca: las demás se cancelan solas.</a:t>
            </a:r>
          </a:p>
        </p:txBody>
      </p:sp>
      <p:sp>
        <p:nvSpPr>
          <p:cNvPr id="10" name="row-rule-0"/>
          <p:cNvSpPr/>
          <p:nvPr/>
        </p:nvSpPr>
        <p:spPr>
          <a:xfrm>
            <a:off x="1353312" y="3154679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w-num-1"/>
          <p:cNvSpPr txBox="1"/>
          <p:nvPr/>
        </p:nvSpPr>
        <p:spPr>
          <a:xfrm>
            <a:off x="530352" y="3310127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02</a:t>
            </a:r>
          </a:p>
        </p:txBody>
      </p:sp>
      <p:sp>
        <p:nvSpPr>
          <p:cNvPr id="12" name="row-title-1"/>
          <p:cNvSpPr txBox="1"/>
          <p:nvPr/>
        </p:nvSpPr>
        <p:spPr>
          <a:xfrm>
            <a:off x="1353312" y="3310127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Por qué funciona</a:t>
            </a:r>
          </a:p>
        </p:txBody>
      </p:sp>
      <p:sp>
        <p:nvSpPr>
          <p:cNvPr id="13" name="row-copy-1"/>
          <p:cNvSpPr txBox="1"/>
          <p:nvPr/>
        </p:nvSpPr>
        <p:spPr>
          <a:xfrm>
            <a:off x="4754880" y="3310127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Porque una señal de radio tiene frecuencia. Si la información no fuera periódica, no habría a qué sintonizar.</a:t>
            </a:r>
          </a:p>
        </p:txBody>
      </p:sp>
      <p:sp>
        <p:nvSpPr>
          <p:cNvPr id="14" name="row-rule-1"/>
          <p:cNvSpPr/>
          <p:nvPr/>
        </p:nvSpPr>
        <p:spPr>
          <a:xfrm>
            <a:off x="1353312" y="3904487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w-num-2"/>
          <p:cNvSpPr txBox="1"/>
          <p:nvPr/>
        </p:nvSpPr>
        <p:spPr>
          <a:xfrm>
            <a:off x="530352" y="4059935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03</a:t>
            </a:r>
          </a:p>
        </p:txBody>
      </p:sp>
      <p:sp>
        <p:nvSpPr>
          <p:cNvPr id="16" name="row-title-2"/>
          <p:cNvSpPr txBox="1"/>
          <p:nvPr/>
        </p:nvSpPr>
        <p:spPr>
          <a:xfrm>
            <a:off x="1353312" y="4059935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Shor hace justo eso</a:t>
            </a:r>
          </a:p>
        </p:txBody>
      </p:sp>
      <p:sp>
        <p:nvSpPr>
          <p:cNvPr id="17" name="row-copy-2"/>
          <p:cNvSpPr txBox="1"/>
          <p:nvPr/>
        </p:nvSpPr>
        <p:spPr>
          <a:xfrm>
            <a:off x="4754880" y="4059935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Factorizar se reduce a hallar un periodo. Se cancelan las frecuencias que no son múltiplos de él: la periodicidad hace el trabajo.</a:t>
            </a:r>
          </a:p>
        </p:txBody>
      </p:sp>
      <p:sp>
        <p:nvSpPr>
          <p:cNvPr id="18" name="row-rule-2"/>
          <p:cNvSpPr/>
          <p:nvPr/>
        </p:nvSpPr>
        <p:spPr>
          <a:xfrm>
            <a:off x="1353312" y="4654296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w-num-3"/>
          <p:cNvSpPr txBox="1"/>
          <p:nvPr/>
        </p:nvSpPr>
        <p:spPr>
          <a:xfrm>
            <a:off x="530352" y="4809744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04</a:t>
            </a:r>
          </a:p>
        </p:txBody>
      </p:sp>
      <p:sp>
        <p:nvSpPr>
          <p:cNvPr id="20" name="row-title-3"/>
          <p:cNvSpPr txBox="1"/>
          <p:nvPr/>
        </p:nvSpPr>
        <p:spPr>
          <a:xfrm>
            <a:off x="1353312" y="4809744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Y una excepción honesta</a:t>
            </a:r>
          </a:p>
        </p:txBody>
      </p:sp>
      <p:sp>
        <p:nvSpPr>
          <p:cNvPr id="21" name="row-copy-3"/>
          <p:cNvSpPr txBox="1"/>
          <p:nvPr/>
        </p:nvSpPr>
        <p:spPr>
          <a:xfrm>
            <a:off x="4754880" y="4809744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Simular una molécula gana por otra vía: ahí la máquina no cancela nada, encarna el sistema. Son dos mecanismos distintos.</a:t>
            </a:r>
          </a:p>
        </p:txBody>
      </p:sp>
      <p:sp>
        <p:nvSpPr>
          <p:cNvPr id="22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Hace falta estructura porque es la estructura la que cancela. Sin ella no hay nada que se anule solo.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Shor y el Airbus: la misma máquina, el resultado opuesto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20</a:t>
            </a:r>
          </a:p>
        </p:txBody>
      </p:sp>
      <p:sp>
        <p:nvSpPr>
          <p:cNvPr id="6" name="panel-bg-0"/>
          <p:cNvSpPr/>
          <p:nvPr/>
        </p:nvSpPr>
        <p:spPr>
          <a:xfrm>
            <a:off x="530352" y="1901952"/>
            <a:ext cx="5285232" cy="3401568"/>
          </a:xfrm>
          <a:prstGeom prst="rect">
            <a:avLst/>
          </a:prstGeom>
          <a:solidFill>
            <a:srgbClr val="FF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panel-title-0"/>
          <p:cNvSpPr txBox="1"/>
          <p:nvPr/>
        </p:nvSpPr>
        <p:spPr>
          <a:xfrm>
            <a:off x="841247" y="2194560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Factorizar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un número</a:t>
            </a:r>
          </a:p>
        </p:txBody>
      </p:sp>
      <p:sp>
        <p:nvSpPr>
          <p:cNvPr id="8" name="panel-note-0"/>
          <p:cNvSpPr txBox="1"/>
          <p:nvPr/>
        </p:nvSpPr>
        <p:spPr>
          <a:xfrm>
            <a:off x="841247" y="3337560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Tiene estructura: periodicidad</a:t>
            </a:r>
          </a:p>
        </p:txBody>
      </p:sp>
      <p:sp>
        <p:nvSpPr>
          <p:cNvPr id="9" name="panel-copy-0"/>
          <p:cNvSpPr txBox="1"/>
          <p:nvPr/>
        </p:nvSpPr>
        <p:spPr>
          <a:xfrm>
            <a:off x="841247" y="3813048"/>
            <a:ext cx="466344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Hay una regularidad matemática que permite diseñar la cancelación. Por eso cae RSA, el cifrado que protege casi todo internet.</a:t>
            </a:r>
          </a:p>
        </p:txBody>
      </p:sp>
      <p:sp>
        <p:nvSpPr>
          <p:cNvPr id="10" name="panel-bg-1"/>
          <p:cNvSpPr/>
          <p:nvPr/>
        </p:nvSpPr>
        <p:spPr>
          <a:xfrm>
            <a:off x="6373368" y="1901952"/>
            <a:ext cx="5285232" cy="3401568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anel-title-1"/>
          <p:cNvSpPr txBox="1"/>
          <p:nvPr/>
        </p:nvSpPr>
        <p:spPr>
          <a:xfrm>
            <a:off x="6684264" y="2194560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Optimizar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un ascenso</a:t>
            </a:r>
          </a:p>
        </p:txBody>
      </p:sp>
      <p:sp>
        <p:nvSpPr>
          <p:cNvPr id="12" name="panel-note-1"/>
          <p:cNvSpPr txBox="1"/>
          <p:nvPr/>
        </p:nvSpPr>
        <p:spPr>
          <a:xfrm>
            <a:off x="6684264" y="3337560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Sin estructura conocida</a:t>
            </a:r>
          </a:p>
        </p:txBody>
      </p:sp>
      <p:sp>
        <p:nvSpPr>
          <p:cNvPr id="13" name="panel-copy-1"/>
          <p:cNvSpPr txBox="1"/>
          <p:nvPr/>
        </p:nvSpPr>
        <p:spPr>
          <a:xfrm>
            <a:off x="6684264" y="3813048"/>
            <a:ext cx="466344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No hay regularidad que explotar: no hay nada que coreografiar. Lo ejecutamos en hardware real y lo medimos.</a:t>
            </a:r>
          </a:p>
        </p:txBody>
      </p:sp>
      <p:sp>
        <p:nvSpPr>
          <p:cNvPr id="14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Un algoritmo cuántico no explora más rápido: cancela lo que sobra. Si su problema no tiene qué cancelar, la respuesta es clásica.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¿Dónde sí gana, entonces?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21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La respuesta útil no es una lista de sectores, sino qué tiene que tener el problema para que haya algo que cancelar.</a:t>
            </a:r>
          </a:p>
        </p:txBody>
      </p:sp>
      <p:graphicFrame>
        <p:nvGraphicFramePr>
          <p:cNvPr id="7" name="emertech-table"/>
          <p:cNvGraphicFramePr>
            <a:graphicFrameLocks noGrp="1"/>
          </p:cNvGraphicFramePr>
          <p:nvPr/>
        </p:nvGraphicFramePr>
        <p:xfrm>
          <a:off x="530352" y="2651760"/>
          <a:ext cx="11128247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38506"/>
                <a:gridCol w="3831036"/>
                <a:gridCol w="3101315"/>
                <a:gridCol w="3557390"/>
              </a:tblGrid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Qué tiene el problema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¿Gana?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Ejemplos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Ya es cuántico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Sí — el caso más sólido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Moléculas, materiales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Estructura algebraica global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Sí, demostrado en teoría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Factorizar, romper RSA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Estructura combinatoria peculiar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Evidencia de escalado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Secuencias de radar (LABS)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33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Ninguna de las anteriores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Ruteo, turnos, carga, portafolio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Una mejora de raíz cuadrada sobre una máquina un millón de veces más lenta por operación no es una mejora.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¿Y el quantum annealing, la máquina hecha para optimizar?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22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Quantum annealing —«templado cuántico»— es OTRA máquina: no ejecuta circuitos, se asienta en el fondo de un paisaje de costos.</a:t>
            </a:r>
          </a:p>
        </p:txBody>
      </p:sp>
      <p:graphicFrame>
        <p:nvGraphicFramePr>
          <p:cNvPr id="7" name="emertech-table"/>
          <p:cNvGraphicFramePr>
            <a:graphicFrameLocks noGrp="1"/>
          </p:cNvGraphicFramePr>
          <p:nvPr/>
        </p:nvGraphicFramePr>
        <p:xfrm>
          <a:off x="530352" y="2788920"/>
          <a:ext cx="11128246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6454"/>
                <a:gridCol w="4195896"/>
                <a:gridCol w="4195896"/>
              </a:tblGrid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Compuertas (IBM, Google)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Quantum annealing (D-Wave)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Qué hace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Ejecuta un circuito, paso a paso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Se asienta en el fondo de un paisaje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Qubits físicos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decenas a ~1.000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5.760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Variables densas que caben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~30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~150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El muro real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Profundidad y ruido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Cadenas de qubits y precisión analógica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En optimización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Sin ventaja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Sin ventaja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8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Los 5.760 qubits no son 5.760 variables: cada una necesita una cadena de 14 qubits físicos. Miles de qubits, ciento y pico de variables.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El sector que más se lo va a vender: finanzas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23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Apliquemos el filtro al vertical con más ruido. Los cuatro argumentos habituales caen todos en el mismo sitio.</a:t>
            </a:r>
          </a:p>
        </p:txBody>
      </p:sp>
      <p:graphicFrame>
        <p:nvGraphicFramePr>
          <p:cNvPr id="7" name="emertech-table"/>
          <p:cNvGraphicFramePr>
            <a:graphicFrameLocks noGrp="1"/>
          </p:cNvGraphicFramePr>
          <p:nvPr/>
        </p:nvGraphicFramePr>
        <p:xfrm>
          <a:off x="530352" y="2697480"/>
          <a:ext cx="11128247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60997"/>
                <a:gridCol w="5902809"/>
                <a:gridCol w="1064441"/>
              </a:tblGrid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Lo que le van a ofrecer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Qué es en realidad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Optimización de portafolio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Un QUBO más. Sin ventaja demostrada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Valoración de derivados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Estimación de amplitud: mejora cuadrática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Análisis de riesgo, VaR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La misma estimación de amplitud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33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D0034"/>
                          </a:solidFill>
                          <a:latin typeface="Arial"/>
                        </a:rPr>
                        <a:t>Fraude con aprendizaje automático (ML)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Casi todo igualado por algoritmos clásicos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2626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Goldman Sachs e IBM lo midieron: valorar derivados con ventaja pide 7.500 qubits lógicos y puertas T a 10 MHz. El reloj lógico de hoy va a kilohercios.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El tamaño real de la máquina, hoy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24</a:t>
            </a:r>
          </a:p>
        </p:txBody>
      </p:sp>
      <p:sp>
        <p:nvSpPr>
          <p:cNvPr id="6" name="stat-0"/>
          <p:cNvSpPr txBox="1"/>
          <p:nvPr/>
        </p:nvSpPr>
        <p:spPr>
          <a:xfrm>
            <a:off x="530352" y="294436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2377A1"/>
                </a:solidFill>
                <a:latin typeface="Arial"/>
              </a:rPr>
              <a:t>105</a:t>
            </a:r>
          </a:p>
        </p:txBody>
      </p:sp>
      <p:sp>
        <p:nvSpPr>
          <p:cNvPr id="7" name="stat-label-0"/>
          <p:cNvSpPr txBox="1"/>
          <p:nvPr/>
        </p:nvSpPr>
        <p:spPr>
          <a:xfrm>
            <a:off x="548640" y="404164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qubits del procesador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Willow de Google</a:t>
            </a:r>
          </a:p>
        </p:txBody>
      </p:sp>
      <p:sp>
        <p:nvSpPr>
          <p:cNvPr id="8" name="vrule-1"/>
          <p:cNvSpPr/>
          <p:nvPr/>
        </p:nvSpPr>
        <p:spPr>
          <a:xfrm>
            <a:off x="3965448" y="2761488"/>
            <a:ext cx="18288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stat-1"/>
          <p:cNvSpPr txBox="1"/>
          <p:nvPr/>
        </p:nvSpPr>
        <p:spPr>
          <a:xfrm>
            <a:off x="4239768" y="294436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2377A1"/>
                </a:solidFill>
                <a:latin typeface="Arial"/>
              </a:rPr>
              <a:t>1 / 1.000</a:t>
            </a:r>
          </a:p>
        </p:txBody>
      </p:sp>
      <p:sp>
        <p:nvSpPr>
          <p:cNvPr id="10" name="stat-label-1"/>
          <p:cNvSpPr txBox="1"/>
          <p:nvPr/>
        </p:nvSpPr>
        <p:spPr>
          <a:xfrm>
            <a:off x="4258056" y="404164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error típico en una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operación de dos qubits</a:t>
            </a:r>
          </a:p>
        </p:txBody>
      </p:sp>
      <p:sp>
        <p:nvSpPr>
          <p:cNvPr id="11" name="vrule-2"/>
          <p:cNvSpPr/>
          <p:nvPr/>
        </p:nvSpPr>
        <p:spPr>
          <a:xfrm>
            <a:off x="7674863" y="2761488"/>
            <a:ext cx="18288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stat-2"/>
          <p:cNvSpPr txBox="1"/>
          <p:nvPr/>
        </p:nvSpPr>
        <p:spPr>
          <a:xfrm>
            <a:off x="7949184" y="294436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DD0034"/>
                </a:solidFill>
                <a:latin typeface="Arial"/>
              </a:rPr>
              <a:t>0</a:t>
            </a:r>
          </a:p>
        </p:txBody>
      </p:sp>
      <p:sp>
        <p:nvSpPr>
          <p:cNvPr id="13" name="stat-label-2"/>
          <p:cNvSpPr txBox="1"/>
          <p:nvPr/>
        </p:nvSpPr>
        <p:spPr>
          <a:xfrm>
            <a:off x="7967472" y="404164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máquinas que corrigen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errores a escala útil</a:t>
            </a:r>
          </a:p>
        </p:txBody>
      </p:sp>
      <p:sp>
        <p:nvSpPr>
          <p:cNvPr id="14" name="note"/>
          <p:cNvSpPr txBox="1"/>
          <p:nvPr/>
        </p:nvSpPr>
        <p:spPr>
          <a:xfrm>
            <a:off x="530352" y="5532120"/>
            <a:ext cx="11128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B2D43"/>
                </a:solidFill>
                <a:latin typeface="Arial"/>
              </a:rPr>
              <a:t>No es una máquina pequeña que crecerá pronto: es una máquina ruidosa que apenas está aprendiendo a corregirse.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Supremacía no es ventaja, y la diferencia le cuesta dinero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25</a:t>
            </a:r>
          </a:p>
        </p:txBody>
      </p:sp>
      <p:sp>
        <p:nvSpPr>
          <p:cNvPr id="6" name="panel-bg-0"/>
          <p:cNvSpPr/>
          <p:nvPr/>
        </p:nvSpPr>
        <p:spPr>
          <a:xfrm>
            <a:off x="530352" y="1901952"/>
            <a:ext cx="5285232" cy="3401568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panel-title-0"/>
          <p:cNvSpPr txBox="1"/>
          <p:nvPr/>
        </p:nvSpPr>
        <p:spPr>
          <a:xfrm>
            <a:off x="841247" y="2194560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Supremacía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cuántica</a:t>
            </a:r>
          </a:p>
        </p:txBody>
      </p:sp>
      <p:sp>
        <p:nvSpPr>
          <p:cNvPr id="8" name="panel-note-0"/>
          <p:cNvSpPr txBox="1"/>
          <p:nvPr/>
        </p:nvSpPr>
        <p:spPr>
          <a:xfrm>
            <a:off x="841247" y="3337560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Hito científico · Preskill, 2012</a:t>
            </a:r>
          </a:p>
        </p:txBody>
      </p:sp>
      <p:sp>
        <p:nvSpPr>
          <p:cNvPr id="9" name="panel-copy-0"/>
          <p:cNvSpPr txBox="1"/>
          <p:nvPr/>
        </p:nvSpPr>
        <p:spPr>
          <a:xfrm>
            <a:off x="841247" y="3813048"/>
            <a:ext cx="466344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Una tarea cualquiera —aunque no sirva para nada— que ningún computador clásico puede replicar en tiempo razonable.</a:t>
            </a:r>
          </a:p>
        </p:txBody>
      </p:sp>
      <p:sp>
        <p:nvSpPr>
          <p:cNvPr id="10" name="panel-bg-1"/>
          <p:cNvSpPr/>
          <p:nvPr/>
        </p:nvSpPr>
        <p:spPr>
          <a:xfrm>
            <a:off x="6373368" y="1901952"/>
            <a:ext cx="5285232" cy="3401568"/>
          </a:xfrm>
          <a:prstGeom prst="rect">
            <a:avLst/>
          </a:prstGeom>
          <a:solidFill>
            <a:srgbClr val="FF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anel-title-1"/>
          <p:cNvSpPr txBox="1"/>
          <p:nvPr/>
        </p:nvSpPr>
        <p:spPr>
          <a:xfrm>
            <a:off x="6684264" y="2194560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Ventaja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cuántica</a:t>
            </a:r>
          </a:p>
        </p:txBody>
      </p:sp>
      <p:sp>
        <p:nvSpPr>
          <p:cNvPr id="12" name="panel-note-1"/>
          <p:cNvSpPr txBox="1"/>
          <p:nvPr/>
        </p:nvSpPr>
        <p:spPr>
          <a:xfrm>
            <a:off x="6684264" y="3337560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Hito empresarial</a:t>
            </a:r>
          </a:p>
        </p:txBody>
      </p:sp>
      <p:sp>
        <p:nvSpPr>
          <p:cNvPr id="13" name="panel-copy-1"/>
          <p:cNvSpPr txBox="1"/>
          <p:nvPr/>
        </p:nvSpPr>
        <p:spPr>
          <a:xfrm>
            <a:off x="6684264" y="3813048"/>
            <a:ext cx="466344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Un problema útil, resuelto mejor que la mejor alternativa clásica. En optimización comercial, nadie lo ha demostrado.</a:t>
            </a:r>
          </a:p>
        </p:txBody>
      </p:sp>
      <p:sp>
        <p:nvSpPr>
          <p:cNvPr id="14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Si un proveedor le cita la supremacía como prueba de que su producto funciona, le está vendiendo muestreo aleatorio sin ninguna salida útil.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Qué demostró Google, exactamente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26</a:t>
            </a:r>
          </a:p>
        </p:txBody>
      </p:sp>
      <p:sp>
        <p:nvSpPr>
          <p:cNvPr id="6" name="timeline-axis"/>
          <p:cNvSpPr/>
          <p:nvPr/>
        </p:nvSpPr>
        <p:spPr>
          <a:xfrm>
            <a:off x="1051560" y="3383280"/>
            <a:ext cx="9811512" cy="274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l-dot-0"/>
          <p:cNvSpPr/>
          <p:nvPr/>
        </p:nvSpPr>
        <p:spPr>
          <a:xfrm>
            <a:off x="877824" y="3017520"/>
            <a:ext cx="347472" cy="347472"/>
          </a:xfrm>
          <a:prstGeom prst="ellipse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l-time-0"/>
          <p:cNvSpPr txBox="1"/>
          <p:nvPr/>
        </p:nvSpPr>
        <p:spPr>
          <a:xfrm>
            <a:off x="841247" y="23682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DD0034"/>
                </a:solidFill>
                <a:latin typeface="Arial"/>
              </a:rPr>
              <a:t>2019</a:t>
            </a:r>
          </a:p>
        </p:txBody>
      </p:sp>
      <p:sp>
        <p:nvSpPr>
          <p:cNvPr id="9" name="tl-title-0"/>
          <p:cNvSpPr txBox="1"/>
          <p:nvPr/>
        </p:nvSpPr>
        <p:spPr>
          <a:xfrm>
            <a:off x="841247" y="370332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Sycamore</a:t>
            </a:r>
          </a:p>
        </p:txBody>
      </p:sp>
      <p:sp>
        <p:nvSpPr>
          <p:cNvPr id="10" name="tl-copy-0"/>
          <p:cNvSpPr txBox="1"/>
          <p:nvPr/>
        </p:nvSpPr>
        <p:spPr>
          <a:xfrm>
            <a:off x="841247" y="423367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53 qubits. Muestreo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aleatorio: 200 s frente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a «10.000 años»</a:t>
            </a:r>
          </a:p>
        </p:txBody>
      </p:sp>
      <p:sp>
        <p:nvSpPr>
          <p:cNvPr id="11" name="tl-dot-1"/>
          <p:cNvSpPr/>
          <p:nvPr/>
        </p:nvSpPr>
        <p:spPr>
          <a:xfrm>
            <a:off x="3544824" y="3017520"/>
            <a:ext cx="347472" cy="347472"/>
          </a:xfrm>
          <a:prstGeom prst="ellipse">
            <a:avLst/>
          </a:prstGeom>
          <a:solidFill>
            <a:srgbClr val="E60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l-time-1"/>
          <p:cNvSpPr txBox="1"/>
          <p:nvPr/>
        </p:nvSpPr>
        <p:spPr>
          <a:xfrm>
            <a:off x="3508248" y="23682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E6007C"/>
                </a:solidFill>
                <a:latin typeface="Arial"/>
              </a:rPr>
              <a:t>2024</a:t>
            </a:r>
          </a:p>
        </p:txBody>
      </p:sp>
      <p:sp>
        <p:nvSpPr>
          <p:cNvPr id="13" name="tl-title-1"/>
          <p:cNvSpPr txBox="1"/>
          <p:nvPr/>
        </p:nvSpPr>
        <p:spPr>
          <a:xfrm>
            <a:off x="3508248" y="370332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Willow</a:t>
            </a:r>
          </a:p>
        </p:txBody>
      </p:sp>
      <p:sp>
        <p:nvSpPr>
          <p:cNvPr id="14" name="tl-copy-1"/>
          <p:cNvSpPr txBox="1"/>
          <p:nvPr/>
        </p:nvSpPr>
        <p:spPr>
          <a:xfrm>
            <a:off x="3508248" y="423367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105 qubits. Corrección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de errores por debajo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del umbral</a:t>
            </a:r>
          </a:p>
        </p:txBody>
      </p:sp>
      <p:sp>
        <p:nvSpPr>
          <p:cNvPr id="15" name="tl-dot-2"/>
          <p:cNvSpPr/>
          <p:nvPr/>
        </p:nvSpPr>
        <p:spPr>
          <a:xfrm>
            <a:off x="6211824" y="3017520"/>
            <a:ext cx="347472" cy="347472"/>
          </a:xfrm>
          <a:prstGeom prst="ellipse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l-time-2"/>
          <p:cNvSpPr txBox="1"/>
          <p:nvPr/>
        </p:nvSpPr>
        <p:spPr>
          <a:xfrm>
            <a:off x="6175248" y="23682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2377A1"/>
                </a:solidFill>
                <a:latin typeface="Arial"/>
              </a:rPr>
              <a:t>2025</a:t>
            </a:r>
          </a:p>
        </p:txBody>
      </p:sp>
      <p:sp>
        <p:nvSpPr>
          <p:cNvPr id="17" name="tl-title-2"/>
          <p:cNvSpPr txBox="1"/>
          <p:nvPr/>
        </p:nvSpPr>
        <p:spPr>
          <a:xfrm>
            <a:off x="6175248" y="370332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Quantum Echoes</a:t>
            </a:r>
          </a:p>
        </p:txBody>
      </p:sp>
      <p:sp>
        <p:nvSpPr>
          <p:cNvPr id="18" name="tl-copy-2"/>
          <p:cNvSpPr txBox="1"/>
          <p:nvPr/>
        </p:nvSpPr>
        <p:spPr>
          <a:xfrm>
            <a:off x="6175248" y="423367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Primera ventaja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verificable: ~13.000×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sobre Frontier</a:t>
            </a:r>
          </a:p>
        </p:txBody>
      </p:sp>
      <p:sp>
        <p:nvSpPr>
          <p:cNvPr id="19" name="tl-dot-3"/>
          <p:cNvSpPr/>
          <p:nvPr/>
        </p:nvSpPr>
        <p:spPr>
          <a:xfrm>
            <a:off x="8878824" y="3017520"/>
            <a:ext cx="347472" cy="347472"/>
          </a:xfrm>
          <a:prstGeom prst="ellipse">
            <a:avLst/>
          </a:prstGeom>
          <a:solidFill>
            <a:srgbClr val="0B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l-time-3"/>
          <p:cNvSpPr txBox="1"/>
          <p:nvPr/>
        </p:nvSpPr>
        <p:spPr>
          <a:xfrm>
            <a:off x="8842248" y="23682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2D43"/>
                </a:solidFill>
                <a:latin typeface="Arial"/>
              </a:rPr>
              <a:t>2026</a:t>
            </a:r>
          </a:p>
        </p:txBody>
      </p:sp>
      <p:sp>
        <p:nvSpPr>
          <p:cNvPr id="21" name="tl-title-3"/>
          <p:cNvSpPr txBox="1"/>
          <p:nvPr/>
        </p:nvSpPr>
        <p:spPr>
          <a:xfrm>
            <a:off x="8842248" y="370332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Sigue en pie</a:t>
            </a:r>
          </a:p>
        </p:txBody>
      </p:sp>
      <p:sp>
        <p:nvSpPr>
          <p:cNvPr id="22" name="tl-copy-3"/>
          <p:cNvSpPr txBox="1"/>
          <p:nvPr/>
        </p:nvSpPr>
        <p:spPr>
          <a:xfrm>
            <a:off x="8842248" y="423367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Nadie ha publicado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una simulación clásica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que la iguale</a:t>
            </a:r>
          </a:p>
        </p:txBody>
      </p:sp>
      <p:sp>
        <p:nvSpPr>
          <p:cNvPr id="23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FF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0B2D43"/>
                </a:solidFill>
                <a:latin typeface="Arial"/>
              </a:rPr>
              <a:t>Pero en 2019 el clásico recortó «10.000 años» a 2,5 días en una semana. La distancia se mide contra un rival que también mejora.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La noticia que sí importaba no fue el titular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27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Willow no destacó por ganarle a un supercomputador, sino por algo que nunca se había conseguido: que añadir qubits redujera el error.</a:t>
            </a:r>
          </a:p>
        </p:txBody>
      </p:sp>
      <p:sp>
        <p:nvSpPr>
          <p:cNvPr id="7" name="stat-0"/>
          <p:cNvSpPr txBox="1"/>
          <p:nvPr/>
        </p:nvSpPr>
        <p:spPr>
          <a:xfrm>
            <a:off x="530352" y="308152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2377A1"/>
                </a:solidFill>
                <a:latin typeface="Arial"/>
              </a:rPr>
              <a:t>3→5→7</a:t>
            </a:r>
          </a:p>
        </p:txBody>
      </p:sp>
      <p:sp>
        <p:nvSpPr>
          <p:cNvPr id="8" name="stat-label-0"/>
          <p:cNvSpPr txBox="1"/>
          <p:nvPr/>
        </p:nvSpPr>
        <p:spPr>
          <a:xfrm>
            <a:off x="548640" y="417880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distancia del código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de corrección</a:t>
            </a:r>
          </a:p>
        </p:txBody>
      </p:sp>
      <p:sp>
        <p:nvSpPr>
          <p:cNvPr id="9" name="vrule-1"/>
          <p:cNvSpPr/>
          <p:nvPr/>
        </p:nvSpPr>
        <p:spPr>
          <a:xfrm>
            <a:off x="3965448" y="2898648"/>
            <a:ext cx="18288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stat-1"/>
          <p:cNvSpPr txBox="1"/>
          <p:nvPr/>
        </p:nvSpPr>
        <p:spPr>
          <a:xfrm>
            <a:off x="4239768" y="308152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2377A1"/>
                </a:solidFill>
                <a:latin typeface="Arial"/>
              </a:rPr>
              <a:t>÷ 2,14</a:t>
            </a:r>
          </a:p>
        </p:txBody>
      </p:sp>
      <p:sp>
        <p:nvSpPr>
          <p:cNvPr id="11" name="stat-label-1"/>
          <p:cNvSpPr txBox="1"/>
          <p:nvPr/>
        </p:nvSpPr>
        <p:spPr>
          <a:xfrm>
            <a:off x="4258056" y="417880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el error lógico, cada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vez que se amplía</a:t>
            </a:r>
          </a:p>
        </p:txBody>
      </p:sp>
      <p:sp>
        <p:nvSpPr>
          <p:cNvPr id="12" name="vrule-2"/>
          <p:cNvSpPr/>
          <p:nvPr/>
        </p:nvSpPr>
        <p:spPr>
          <a:xfrm>
            <a:off x="7674863" y="2898648"/>
            <a:ext cx="18288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stat-2"/>
          <p:cNvSpPr txBox="1"/>
          <p:nvPr/>
        </p:nvSpPr>
        <p:spPr>
          <a:xfrm>
            <a:off x="7949184" y="308152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DD0034"/>
                </a:solidFill>
                <a:latin typeface="Arial"/>
              </a:rPr>
              <a:t>2,4 ×</a:t>
            </a:r>
          </a:p>
        </p:txBody>
      </p:sp>
      <p:sp>
        <p:nvSpPr>
          <p:cNvPr id="14" name="stat-label-2"/>
          <p:cNvSpPr txBox="1"/>
          <p:nvPr/>
        </p:nvSpPr>
        <p:spPr>
          <a:xfrm>
            <a:off x="7967472" y="417880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más vida que su mejor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qubit físico suelto</a:t>
            </a:r>
          </a:p>
        </p:txBody>
      </p:sp>
      <p:sp>
        <p:nvSpPr>
          <p:cNvPr id="15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Es el primer paso creíble hacia la máquina tolerante a fallos. Ese es el reloj que hay que vigilar, no el de los titulares.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rail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ection-kicker"/>
          <p:cNvSpPr txBox="1"/>
          <p:nvPr/>
        </p:nvSpPr>
        <p:spPr>
          <a:xfrm>
            <a:off x="594360" y="2148840"/>
            <a:ext cx="73152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DEAFA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4" name="section-title"/>
          <p:cNvSpPr txBox="1"/>
          <p:nvPr/>
        </p:nvSpPr>
        <p:spPr>
          <a:xfrm>
            <a:off x="594360" y="274320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El reloj que ya corre</a:t>
            </a:r>
          </a:p>
        </p:txBody>
      </p:sp>
      <p:sp>
        <p:nvSpPr>
          <p:cNvPr id="5" name="section-sub"/>
          <p:cNvSpPr txBox="1"/>
          <p:nvPr/>
        </p:nvSpPr>
        <p:spPr>
          <a:xfrm>
            <a:off x="594360" y="4343400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0">
                <a:solidFill>
                  <a:srgbClr val="CDEAFA"/>
                </a:solidFill>
                <a:latin typeface="Arial"/>
              </a:rPr>
              <a:t>La amenaza viene de la computación cuántica. La respuesta, curiosamente, no.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Lo que se rompe no es abstracto: el candado y las firmas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29</a:t>
            </a:r>
          </a:p>
        </p:txBody>
      </p:sp>
      <p:sp>
        <p:nvSpPr>
          <p:cNvPr id="6" name="card-bg-0"/>
          <p:cNvSpPr/>
          <p:nvPr/>
        </p:nvSpPr>
        <p:spPr>
          <a:xfrm>
            <a:off x="530352" y="2395728"/>
            <a:ext cx="3429000" cy="2560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card-num-0"/>
          <p:cNvSpPr txBox="1"/>
          <p:nvPr/>
        </p:nvSpPr>
        <p:spPr>
          <a:xfrm>
            <a:off x="758952" y="2606040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01</a:t>
            </a:r>
          </a:p>
        </p:txBody>
      </p:sp>
      <p:sp>
        <p:nvSpPr>
          <p:cNvPr id="8" name="card-title-0"/>
          <p:cNvSpPr txBox="1"/>
          <p:nvPr/>
        </p:nvSpPr>
        <p:spPr>
          <a:xfrm>
            <a:off x="758952" y="310896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Lo que viaja</a:t>
            </a:r>
          </a:p>
        </p:txBody>
      </p:sp>
      <p:sp>
        <p:nvSpPr>
          <p:cNvPr id="9" name="card-copy-0"/>
          <p:cNvSpPr txBox="1"/>
          <p:nvPr/>
        </p:nvSpPr>
        <p:spPr>
          <a:xfrm>
            <a:off x="758952" y="3904488"/>
            <a:ext cx="29443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El candado del navegador (TLS) y las conexiones remotas (VPN). Hoy se copia el tráfico; mañana se descifra.</a:t>
            </a:r>
          </a:p>
        </p:txBody>
      </p:sp>
      <p:sp>
        <p:nvSpPr>
          <p:cNvPr id="10" name="card-bg-1"/>
          <p:cNvSpPr/>
          <p:nvPr/>
        </p:nvSpPr>
        <p:spPr>
          <a:xfrm>
            <a:off x="4379976" y="2395728"/>
            <a:ext cx="3429000" cy="2560320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card-num-1"/>
          <p:cNvSpPr txBox="1"/>
          <p:nvPr/>
        </p:nvSpPr>
        <p:spPr>
          <a:xfrm>
            <a:off x="4608576" y="2606040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02</a:t>
            </a:r>
          </a:p>
        </p:txBody>
      </p:sp>
      <p:sp>
        <p:nvSpPr>
          <p:cNvPr id="12" name="card-title-1"/>
          <p:cNvSpPr txBox="1"/>
          <p:nvPr/>
        </p:nvSpPr>
        <p:spPr>
          <a:xfrm>
            <a:off x="4608576" y="310896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Lo que firma</a:t>
            </a:r>
          </a:p>
        </p:txBody>
      </p:sp>
      <p:sp>
        <p:nvSpPr>
          <p:cNvPr id="13" name="card-copy-1"/>
          <p:cNvSpPr txBox="1"/>
          <p:nvPr/>
        </p:nvSpPr>
        <p:spPr>
          <a:xfrm>
            <a:off x="4608576" y="3904488"/>
            <a:ext cx="29443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Firma de código y de documentos. La confianza se vuelve falsificable.</a:t>
            </a:r>
          </a:p>
        </p:txBody>
      </p:sp>
      <p:sp>
        <p:nvSpPr>
          <p:cNvPr id="14" name="card-bg-2"/>
          <p:cNvSpPr/>
          <p:nvPr/>
        </p:nvSpPr>
        <p:spPr>
          <a:xfrm>
            <a:off x="8229600" y="2395728"/>
            <a:ext cx="3429000" cy="2560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card-num-2"/>
          <p:cNvSpPr txBox="1"/>
          <p:nvPr/>
        </p:nvSpPr>
        <p:spPr>
          <a:xfrm>
            <a:off x="8458200" y="2606040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03</a:t>
            </a:r>
          </a:p>
        </p:txBody>
      </p:sp>
      <p:sp>
        <p:nvSpPr>
          <p:cNvPr id="16" name="card-title-2"/>
          <p:cNvSpPr txBox="1"/>
          <p:nvPr/>
        </p:nvSpPr>
        <p:spPr>
          <a:xfrm>
            <a:off x="8458200" y="310896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Lo que se guarda</a:t>
            </a:r>
          </a:p>
        </p:txBody>
      </p:sp>
      <p:sp>
        <p:nvSpPr>
          <p:cNvPr id="17" name="card-copy-2"/>
          <p:cNvSpPr txBox="1"/>
          <p:nvPr/>
        </p:nvSpPr>
        <p:spPr>
          <a:xfrm>
            <a:off x="8458200" y="3904488"/>
            <a:ext cx="29443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Historias clínicas, contratos y secretos industriales con décadas de vida útil.</a:t>
            </a:r>
          </a:p>
        </p:txBody>
      </p:sp>
      <p:sp>
        <p:nvSpPr>
          <p:cNvPr id="18" name="strip-bg"/>
          <p:cNvSpPr/>
          <p:nvPr/>
        </p:nvSpPr>
        <p:spPr>
          <a:xfrm>
            <a:off x="530352" y="5715000"/>
            <a:ext cx="11128248" cy="493776"/>
          </a:xfrm>
          <a:prstGeom prst="rect">
            <a:avLst/>
          </a:prstGeom>
          <a:solidFill>
            <a:srgbClr val="F0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strip-text"/>
          <p:cNvSpPr txBox="1"/>
          <p:nvPr/>
        </p:nvSpPr>
        <p:spPr>
          <a:xfrm>
            <a:off x="722375" y="5815584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E6007C"/>
                </a:solidFill>
                <a:latin typeface="Arial"/>
              </a:rPr>
              <a:t>Cosechar ahora, descifrar después: el dato que le copian hoy ya está comprometido.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Cuánta fuerza bruta es demasiada: la regla de Bitcoin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30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Existe una máquina pública, medible y enorme dedicada a hacer fuerza bruta todo el día. Sirve de patrón de medida.</a:t>
            </a:r>
          </a:p>
        </p:txBody>
      </p:sp>
      <p:sp>
        <p:nvSpPr>
          <p:cNvPr id="7" name="stat-0"/>
          <p:cNvSpPr txBox="1"/>
          <p:nvPr/>
        </p:nvSpPr>
        <p:spPr>
          <a:xfrm>
            <a:off x="530352" y="294436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2377A1"/>
                </a:solidFill>
                <a:latin typeface="Arial"/>
              </a:rPr>
              <a:t>10²¹</a:t>
            </a:r>
          </a:p>
        </p:txBody>
      </p:sp>
      <p:sp>
        <p:nvSpPr>
          <p:cNvPr id="8" name="stat-label-0"/>
          <p:cNvSpPr txBox="1"/>
          <p:nvPr/>
        </p:nvSpPr>
        <p:spPr>
          <a:xfrm>
            <a:off x="548640" y="404164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intentos por segundo hace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hoy la red de Bitcoin</a:t>
            </a:r>
          </a:p>
        </p:txBody>
      </p:sp>
      <p:sp>
        <p:nvSpPr>
          <p:cNvPr id="9" name="vrule-1"/>
          <p:cNvSpPr/>
          <p:nvPr/>
        </p:nvSpPr>
        <p:spPr>
          <a:xfrm>
            <a:off x="3965448" y="2761488"/>
            <a:ext cx="18288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stat-1"/>
          <p:cNvSpPr txBox="1"/>
          <p:nvPr/>
        </p:nvSpPr>
        <p:spPr>
          <a:xfrm>
            <a:off x="4239768" y="294436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2377A1"/>
                </a:solidFill>
                <a:latin typeface="Arial"/>
              </a:rPr>
              <a:t>10.800</a:t>
            </a:r>
          </a:p>
        </p:txBody>
      </p:sp>
      <p:sp>
        <p:nvSpPr>
          <p:cNvPr id="11" name="stat-label-1"/>
          <p:cNvSpPr txBox="1"/>
          <p:nvPr/>
        </p:nvSpPr>
        <p:spPr>
          <a:xfrm>
            <a:off x="4258056" y="404164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millones de años para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agotar 128 bits de clave</a:t>
            </a:r>
          </a:p>
        </p:txBody>
      </p:sp>
      <p:sp>
        <p:nvSpPr>
          <p:cNvPr id="12" name="vrule-2"/>
          <p:cNvSpPr/>
          <p:nvPr/>
        </p:nvSpPr>
        <p:spPr>
          <a:xfrm>
            <a:off x="7674863" y="2761488"/>
            <a:ext cx="18288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stat-2"/>
          <p:cNvSpPr txBox="1"/>
          <p:nvPr/>
        </p:nvSpPr>
        <p:spPr>
          <a:xfrm>
            <a:off x="7949184" y="294436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DD0034"/>
                </a:solidFill>
                <a:latin typeface="Arial"/>
              </a:rPr>
              <a:t>√</a:t>
            </a:r>
          </a:p>
        </p:txBody>
      </p:sp>
      <p:sp>
        <p:nvSpPr>
          <p:cNvPr id="14" name="stat-label-2"/>
          <p:cNvSpPr txBox="1"/>
          <p:nvPr/>
        </p:nvSpPr>
        <p:spPr>
          <a:xfrm>
            <a:off x="7967472" y="404164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lo único que le quita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un algoritmo cuántico</a:t>
            </a:r>
          </a:p>
        </p:txBody>
      </p:sp>
      <p:sp>
        <p:nvSpPr>
          <p:cNvPr id="15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La edad del universo son 13.800 millones de años. Esa es la escala de la fuerza bruta.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Bitcoin tiene las dos mitades: una se salva, la otra no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31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El mismo sistema contiene el problema con atajo y el que no lo tiene.</a:t>
            </a:r>
          </a:p>
        </p:txBody>
      </p:sp>
      <p:sp>
        <p:nvSpPr>
          <p:cNvPr id="7" name="panel-bg-0"/>
          <p:cNvSpPr/>
          <p:nvPr/>
        </p:nvSpPr>
        <p:spPr>
          <a:xfrm>
            <a:off x="530352" y="2194560"/>
            <a:ext cx="5285232" cy="3200400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anel-title-0"/>
          <p:cNvSpPr txBox="1"/>
          <p:nvPr/>
        </p:nvSpPr>
        <p:spPr>
          <a:xfrm>
            <a:off x="841247" y="2487168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El minado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se salva</a:t>
            </a:r>
          </a:p>
        </p:txBody>
      </p:sp>
      <p:sp>
        <p:nvSpPr>
          <p:cNvPr id="9" name="panel-note-0"/>
          <p:cNvSpPr txBox="1"/>
          <p:nvPr/>
        </p:nvSpPr>
        <p:spPr>
          <a:xfrm>
            <a:off x="841247" y="3630168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Fuerza bruta pura, sin estructura</a:t>
            </a:r>
          </a:p>
        </p:txBody>
      </p:sp>
      <p:sp>
        <p:nvSpPr>
          <p:cNvPr id="10" name="panel-copy-0"/>
          <p:cNvSpPr txBox="1"/>
          <p:nvPr/>
        </p:nvSpPr>
        <p:spPr>
          <a:xfrm>
            <a:off x="841247" y="4105656"/>
            <a:ext cx="466344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Buscar un hash es probar al azar. Lo cuántico solo quita la raíz cuadrada, y encima no paraleliza. Doblar la clave basta.</a:t>
            </a:r>
          </a:p>
        </p:txBody>
      </p:sp>
      <p:sp>
        <p:nvSpPr>
          <p:cNvPr id="11" name="panel-bg-1"/>
          <p:cNvSpPr/>
          <p:nvPr/>
        </p:nvSpPr>
        <p:spPr>
          <a:xfrm>
            <a:off x="6373368" y="2194560"/>
            <a:ext cx="5285232" cy="3200400"/>
          </a:xfrm>
          <a:prstGeom prst="rect">
            <a:avLst/>
          </a:prstGeom>
          <a:solidFill>
            <a:srgbClr val="FF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anel-title-1"/>
          <p:cNvSpPr txBox="1"/>
          <p:nvPr/>
        </p:nvSpPr>
        <p:spPr>
          <a:xfrm>
            <a:off x="6684264" y="2487168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Las firmas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caen</a:t>
            </a:r>
          </a:p>
        </p:txBody>
      </p:sp>
      <p:sp>
        <p:nvSpPr>
          <p:cNvPr id="13" name="panel-note-1"/>
          <p:cNvSpPr txBox="1"/>
          <p:nvPr/>
        </p:nvSpPr>
        <p:spPr>
          <a:xfrm>
            <a:off x="6684264" y="3630168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Curva elíptica: tiene periodicidad</a:t>
            </a:r>
          </a:p>
        </p:txBody>
      </p:sp>
      <p:sp>
        <p:nvSpPr>
          <p:cNvPr id="14" name="panel-copy-1"/>
          <p:cNvSpPr txBox="1"/>
          <p:nvPr/>
        </p:nvSpPr>
        <p:spPr>
          <a:xfrm>
            <a:off x="6684264" y="4105656"/>
            <a:ext cx="466344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Shor no busca: encuentra el atajo. Menos de un millón de qubits ruidosos y menos de una semana bastarían para romper RSA-2048, el de hoy.</a:t>
            </a:r>
          </a:p>
        </p:txBody>
      </p:sp>
      <p:sp>
        <p:nvSpPr>
          <p:cNvPr id="15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La criptografía post-cuántica no es criptografía «más fuerte»: es cambiar el problema por uno que no tenga atajo.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La desigualdad de Mosca dice si usted ya llegó tarde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32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Tres números, una resta. Se hace hoy, no cuando salga la noticia.</a:t>
            </a:r>
          </a:p>
        </p:txBody>
      </p:sp>
      <p:sp>
        <p:nvSpPr>
          <p:cNvPr id="7" name="row-num-0"/>
          <p:cNvSpPr txBox="1"/>
          <p:nvPr/>
        </p:nvSpPr>
        <p:spPr>
          <a:xfrm>
            <a:off x="530352" y="2788920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01</a:t>
            </a:r>
          </a:p>
        </p:txBody>
      </p:sp>
      <p:sp>
        <p:nvSpPr>
          <p:cNvPr id="8" name="row-title-0"/>
          <p:cNvSpPr txBox="1"/>
          <p:nvPr/>
        </p:nvSpPr>
        <p:spPr>
          <a:xfrm>
            <a:off x="1353312" y="2788920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X · Vida del secreto</a:t>
            </a:r>
          </a:p>
        </p:txBody>
      </p:sp>
      <p:sp>
        <p:nvSpPr>
          <p:cNvPr id="9" name="row-copy-0"/>
          <p:cNvSpPr txBox="1"/>
          <p:nvPr/>
        </p:nvSpPr>
        <p:spPr>
          <a:xfrm>
            <a:off x="4754880" y="2788920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Historia clínica, 20 años. Contrato, 10. Secreto industrial, 15.</a:t>
            </a:r>
          </a:p>
        </p:txBody>
      </p:sp>
      <p:sp>
        <p:nvSpPr>
          <p:cNvPr id="10" name="row-rule-0"/>
          <p:cNvSpPr/>
          <p:nvPr/>
        </p:nvSpPr>
        <p:spPr>
          <a:xfrm>
            <a:off x="1353312" y="3383279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w-num-1"/>
          <p:cNvSpPr txBox="1"/>
          <p:nvPr/>
        </p:nvSpPr>
        <p:spPr>
          <a:xfrm>
            <a:off x="530352" y="3570732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02</a:t>
            </a:r>
          </a:p>
        </p:txBody>
      </p:sp>
      <p:sp>
        <p:nvSpPr>
          <p:cNvPr id="12" name="row-title-1"/>
          <p:cNvSpPr txBox="1"/>
          <p:nvPr/>
        </p:nvSpPr>
        <p:spPr>
          <a:xfrm>
            <a:off x="1353312" y="357073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Y · Duración de la migración</a:t>
            </a:r>
          </a:p>
        </p:txBody>
      </p:sp>
      <p:sp>
        <p:nvSpPr>
          <p:cNvPr id="13" name="row-copy-1"/>
          <p:cNvSpPr txBox="1"/>
          <p:nvPr/>
        </p:nvSpPr>
        <p:spPr>
          <a:xfrm>
            <a:off x="4754880" y="3570732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Inventario, proveedores y sistemas heredados: entre 5 y 10 años.</a:t>
            </a:r>
          </a:p>
        </p:txBody>
      </p:sp>
      <p:sp>
        <p:nvSpPr>
          <p:cNvPr id="14" name="row-rule-1"/>
          <p:cNvSpPr/>
          <p:nvPr/>
        </p:nvSpPr>
        <p:spPr>
          <a:xfrm>
            <a:off x="1353312" y="4165091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w-num-2"/>
          <p:cNvSpPr txBox="1"/>
          <p:nvPr/>
        </p:nvSpPr>
        <p:spPr>
          <a:xfrm>
            <a:off x="530352" y="4352544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03</a:t>
            </a:r>
          </a:p>
        </p:txBody>
      </p:sp>
      <p:sp>
        <p:nvSpPr>
          <p:cNvPr id="16" name="row-title-2"/>
          <p:cNvSpPr txBox="1"/>
          <p:nvPr/>
        </p:nvSpPr>
        <p:spPr>
          <a:xfrm>
            <a:off x="1353312" y="4352544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Z · Llegada de la máquina</a:t>
            </a:r>
          </a:p>
        </p:txBody>
      </p:sp>
      <p:sp>
        <p:nvSpPr>
          <p:cNvPr id="17" name="row-copy-2"/>
          <p:cNvSpPr txBox="1"/>
          <p:nvPr/>
        </p:nvSpPr>
        <p:spPr>
          <a:xfrm>
            <a:off x="4754880" y="4352544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Nadie lo sabe con certeza. Las estimaciones serias apuntan a la década de 2030.</a:t>
            </a:r>
          </a:p>
        </p:txBody>
      </p:sp>
      <p:sp>
        <p:nvSpPr>
          <p:cNvPr id="18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FF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0B2D43"/>
                </a:solidFill>
                <a:latin typeface="Arial"/>
              </a:rPr>
              <a:t>Si X + Y supera a Z, el daño ya está hecho: usted llegó tarde sin haberlo notado.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El calendario ya está escrito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33</a:t>
            </a:r>
          </a:p>
        </p:txBody>
      </p:sp>
      <p:sp>
        <p:nvSpPr>
          <p:cNvPr id="6" name="timeline-axis"/>
          <p:cNvSpPr/>
          <p:nvPr/>
        </p:nvSpPr>
        <p:spPr>
          <a:xfrm>
            <a:off x="1051560" y="3383280"/>
            <a:ext cx="9811512" cy="274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l-dot-0"/>
          <p:cNvSpPr/>
          <p:nvPr/>
        </p:nvSpPr>
        <p:spPr>
          <a:xfrm>
            <a:off x="877824" y="3291840"/>
            <a:ext cx="347472" cy="347472"/>
          </a:xfrm>
          <a:prstGeom prst="ellipse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l-time-0"/>
          <p:cNvSpPr txBox="1"/>
          <p:nvPr/>
        </p:nvSpPr>
        <p:spPr>
          <a:xfrm>
            <a:off x="841247" y="264261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DD0034"/>
                </a:solidFill>
                <a:latin typeface="Arial"/>
              </a:rPr>
              <a:t>2024</a:t>
            </a:r>
          </a:p>
        </p:txBody>
      </p:sp>
      <p:sp>
        <p:nvSpPr>
          <p:cNvPr id="9" name="tl-title-0"/>
          <p:cNvSpPr txBox="1"/>
          <p:nvPr/>
        </p:nvSpPr>
        <p:spPr>
          <a:xfrm>
            <a:off x="841247" y="3977639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Estándares</a:t>
            </a:r>
          </a:p>
        </p:txBody>
      </p:sp>
      <p:sp>
        <p:nvSpPr>
          <p:cNvPr id="10" name="tl-copy-0"/>
          <p:cNvSpPr txBox="1"/>
          <p:nvPr/>
        </p:nvSpPr>
        <p:spPr>
          <a:xfrm>
            <a:off x="841247" y="450799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ML-KEM para cifrar y ML-DSA para firmar, ya aprobados</a:t>
            </a:r>
          </a:p>
        </p:txBody>
      </p:sp>
      <p:sp>
        <p:nvSpPr>
          <p:cNvPr id="11" name="tl-dot-1"/>
          <p:cNvSpPr/>
          <p:nvPr/>
        </p:nvSpPr>
        <p:spPr>
          <a:xfrm>
            <a:off x="3544824" y="3291840"/>
            <a:ext cx="347472" cy="347472"/>
          </a:xfrm>
          <a:prstGeom prst="ellipse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l-time-1"/>
          <p:cNvSpPr txBox="1"/>
          <p:nvPr/>
        </p:nvSpPr>
        <p:spPr>
          <a:xfrm>
            <a:off x="3508248" y="264261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DD0034"/>
                </a:solidFill>
                <a:latin typeface="Arial"/>
              </a:rPr>
              <a:t>2025</a:t>
            </a:r>
          </a:p>
        </p:txBody>
      </p:sp>
      <p:sp>
        <p:nvSpPr>
          <p:cNvPr id="13" name="tl-title-1"/>
          <p:cNvSpPr txBox="1"/>
          <p:nvPr/>
        </p:nvSpPr>
        <p:spPr>
          <a:xfrm>
            <a:off x="3508248" y="3977639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Respaldo</a:t>
            </a:r>
          </a:p>
        </p:txBody>
      </p:sp>
      <p:sp>
        <p:nvSpPr>
          <p:cNvPr id="14" name="tl-copy-1"/>
          <p:cNvSpPr txBox="1"/>
          <p:nvPr/>
        </p:nvSpPr>
        <p:spPr>
          <a:xfrm>
            <a:off x="3508248" y="450799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Se añade HQC, un segundo método de cifrado de respaldo</a:t>
            </a:r>
          </a:p>
        </p:txBody>
      </p:sp>
      <p:sp>
        <p:nvSpPr>
          <p:cNvPr id="15" name="tl-dot-2"/>
          <p:cNvSpPr/>
          <p:nvPr/>
        </p:nvSpPr>
        <p:spPr>
          <a:xfrm>
            <a:off x="6211824" y="3291840"/>
            <a:ext cx="347472" cy="347472"/>
          </a:xfrm>
          <a:prstGeom prst="ellipse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l-time-2"/>
          <p:cNvSpPr txBox="1"/>
          <p:nvPr/>
        </p:nvSpPr>
        <p:spPr>
          <a:xfrm>
            <a:off x="6175248" y="264261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2377A1"/>
                </a:solidFill>
                <a:latin typeface="Arial"/>
              </a:rPr>
              <a:t>2030</a:t>
            </a:r>
          </a:p>
        </p:txBody>
      </p:sp>
      <p:sp>
        <p:nvSpPr>
          <p:cNvPr id="17" name="tl-title-2"/>
          <p:cNvSpPr txBox="1"/>
          <p:nvPr/>
        </p:nvSpPr>
        <p:spPr>
          <a:xfrm>
            <a:off x="6175248" y="3977639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En desuso</a:t>
            </a:r>
          </a:p>
        </p:txBody>
      </p:sp>
      <p:sp>
        <p:nvSpPr>
          <p:cNvPr id="18" name="tl-copy-2"/>
          <p:cNvSpPr txBox="1"/>
          <p:nvPr/>
        </p:nvSpPr>
        <p:spPr>
          <a:xfrm>
            <a:off x="6175248" y="450799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RSA-2048 y P-256, los de hoy, salen de uso nuevo</a:t>
            </a:r>
          </a:p>
        </p:txBody>
      </p:sp>
      <p:sp>
        <p:nvSpPr>
          <p:cNvPr id="19" name="tl-dot-3"/>
          <p:cNvSpPr/>
          <p:nvPr/>
        </p:nvSpPr>
        <p:spPr>
          <a:xfrm>
            <a:off x="8878824" y="3291840"/>
            <a:ext cx="347472" cy="347472"/>
          </a:xfrm>
          <a:prstGeom prst="ellipse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l-time-3"/>
          <p:cNvSpPr txBox="1"/>
          <p:nvPr/>
        </p:nvSpPr>
        <p:spPr>
          <a:xfrm>
            <a:off x="8842248" y="264261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2377A1"/>
                </a:solidFill>
                <a:latin typeface="Arial"/>
              </a:rPr>
              <a:t>2035</a:t>
            </a:r>
          </a:p>
        </p:txBody>
      </p:sp>
      <p:sp>
        <p:nvSpPr>
          <p:cNvPr id="21" name="tl-title-3"/>
          <p:cNvSpPr txBox="1"/>
          <p:nvPr/>
        </p:nvSpPr>
        <p:spPr>
          <a:xfrm>
            <a:off x="8842248" y="3977639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Prohibidas</a:t>
            </a:r>
          </a:p>
        </p:txBody>
      </p:sp>
      <p:sp>
        <p:nvSpPr>
          <p:cNvPr id="22" name="tl-copy-3"/>
          <p:cNvSpPr txBox="1"/>
          <p:nvPr/>
        </p:nvSpPr>
        <p:spPr>
          <a:xfrm>
            <a:off x="8842248" y="450799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Fecha objetivo para terminar la migración</a:t>
            </a:r>
          </a:p>
        </p:txBody>
      </p:sp>
      <p:sp>
        <p:nvSpPr>
          <p:cNvPr id="23" name="note"/>
          <p:cNvSpPr txBox="1"/>
          <p:nvPr/>
        </p:nvSpPr>
        <p:spPr>
          <a:xfrm>
            <a:off x="530352" y="5394960"/>
            <a:ext cx="11128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B2D43"/>
                </a:solidFill>
                <a:latin typeface="Arial"/>
              </a:rPr>
              <a:t>Esos nombres son los que hay que pedirle al proveedor. Las fechas de 2030 y 2035 son propuestas, no norma firme.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3D3D3D"/>
                </a:solidFill>
                <a:latin typeface="Arial"/>
              </a:rPr>
              <a:t>Post-cuántica no es lo mismo que distribución cuántica de claves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34</a:t>
            </a:r>
          </a:p>
        </p:txBody>
      </p:sp>
      <p:sp>
        <p:nvSpPr>
          <p:cNvPr id="6" name="panel-bg-0"/>
          <p:cNvSpPr/>
          <p:nvPr/>
        </p:nvSpPr>
        <p:spPr>
          <a:xfrm>
            <a:off x="530352" y="1901952"/>
            <a:ext cx="5285232" cy="3401568"/>
          </a:xfrm>
          <a:prstGeom prst="rect">
            <a:avLst/>
          </a:prstGeom>
          <a:solidFill>
            <a:srgbClr val="FF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panel-title-0"/>
          <p:cNvSpPr txBox="1"/>
          <p:nvPr/>
        </p:nvSpPr>
        <p:spPr>
          <a:xfrm>
            <a:off x="841247" y="2194560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Criptografía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post-cuántica</a:t>
            </a:r>
          </a:p>
        </p:txBody>
      </p:sp>
      <p:sp>
        <p:nvSpPr>
          <p:cNvPr id="8" name="panel-note-0"/>
          <p:cNvSpPr txBox="1"/>
          <p:nvPr/>
        </p:nvSpPr>
        <p:spPr>
          <a:xfrm>
            <a:off x="841247" y="3337560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Es lo que usted necesita</a:t>
            </a:r>
          </a:p>
        </p:txBody>
      </p:sp>
      <p:sp>
        <p:nvSpPr>
          <p:cNvPr id="9" name="panel-copy-0"/>
          <p:cNvSpPr txBox="1"/>
          <p:nvPr/>
        </p:nvSpPr>
        <p:spPr>
          <a:xfrm>
            <a:off x="841247" y="3813048"/>
            <a:ext cx="466344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Matemática clásica, en software. Se instala como cualquier actualización y ya está estandarizada.</a:t>
            </a:r>
          </a:p>
        </p:txBody>
      </p:sp>
      <p:sp>
        <p:nvSpPr>
          <p:cNvPr id="10" name="panel-bg-1"/>
          <p:cNvSpPr/>
          <p:nvPr/>
        </p:nvSpPr>
        <p:spPr>
          <a:xfrm>
            <a:off x="6373368" y="1901952"/>
            <a:ext cx="5285232" cy="3401568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anel-title-1"/>
          <p:cNvSpPr txBox="1"/>
          <p:nvPr/>
        </p:nvSpPr>
        <p:spPr>
          <a:xfrm>
            <a:off x="6684264" y="2194560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Distribución cuántica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de claves</a:t>
            </a:r>
          </a:p>
        </p:txBody>
      </p:sp>
      <p:sp>
        <p:nvSpPr>
          <p:cNvPr id="12" name="panel-note-1"/>
          <p:cNvSpPr txBox="1"/>
          <p:nvPr/>
        </p:nvSpPr>
        <p:spPr>
          <a:xfrm>
            <a:off x="6684264" y="3337560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Es real, y no le quita la tarea</a:t>
            </a:r>
          </a:p>
        </p:txBody>
      </p:sp>
      <p:sp>
        <p:nvSpPr>
          <p:cNvPr id="13" name="panel-copy-1"/>
          <p:cNvSpPr txBox="1"/>
          <p:nvPr/>
        </p:nvSpPr>
        <p:spPr>
          <a:xfrm>
            <a:off x="6684264" y="3813048"/>
            <a:ext cx="466344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Se está desplegando de verdad. Pero no autentica: no le dice quién está al otro lado. Para eso sigue necesitando firmas.</a:t>
            </a:r>
          </a:p>
        </p:txBody>
      </p:sp>
      <p:sp>
        <p:nvSpPr>
          <p:cNvPr id="14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Para defenderse de la computación cuántica usted no necesita computación cuántica.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Por qué la luz cuántica no llega lejos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35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La misma ley que protege la clave es la que pone el límite: si no se puede copiar, tampoco se puede amplificar.</a:t>
            </a:r>
          </a:p>
        </p:txBody>
      </p:sp>
      <p:sp>
        <p:nvSpPr>
          <p:cNvPr id="7" name="rail"/>
          <p:cNvSpPr/>
          <p:nvPr/>
        </p:nvSpPr>
        <p:spPr>
          <a:xfrm>
            <a:off x="740664" y="2734056"/>
            <a:ext cx="91440" cy="2962656"/>
          </a:xfrm>
          <a:prstGeom prst="rect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ail-title-0"/>
          <p:cNvSpPr txBox="1"/>
          <p:nvPr/>
        </p:nvSpPr>
        <p:spPr>
          <a:xfrm>
            <a:off x="1143000" y="2670048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El problema</a:t>
            </a:r>
          </a:p>
        </p:txBody>
      </p:sp>
      <p:sp>
        <p:nvSpPr>
          <p:cNvPr id="9" name="rail-copy-0"/>
          <p:cNvSpPr txBox="1"/>
          <p:nvPr/>
        </p:nvSpPr>
        <p:spPr>
          <a:xfrm>
            <a:off x="4005072" y="2670048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Una señal clásica se regenera cada 80 km con un amplificador. Una cuántica no: copiarla está prohibido, y la pérdida en fibra es exponencial.</a:t>
            </a:r>
          </a:p>
        </p:txBody>
      </p:sp>
      <p:sp>
        <p:nvSpPr>
          <p:cNvPr id="10" name="rail-title-1"/>
          <p:cNvSpPr txBox="1"/>
          <p:nvPr/>
        </p:nvSpPr>
        <p:spPr>
          <a:xfrm>
            <a:off x="1143000" y="3401568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El alcance</a:t>
            </a:r>
          </a:p>
        </p:txBody>
      </p:sp>
      <p:sp>
        <p:nvSpPr>
          <p:cNvPr id="11" name="rail-copy-1"/>
          <p:cNvSpPr txBox="1"/>
          <p:nvPr/>
        </p:nvSpPr>
        <p:spPr>
          <a:xfrm>
            <a:off x="4005072" y="3401568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Sin repetidores no se pasa de unos 100 km. El récord de laboratorio, con técnicas especiales, ronda los 650 km.</a:t>
            </a:r>
          </a:p>
        </p:txBody>
      </p:sp>
      <p:sp>
        <p:nvSpPr>
          <p:cNvPr id="12" name="rail-title-2"/>
          <p:cNvSpPr txBox="1"/>
          <p:nvPr/>
        </p:nvSpPr>
        <p:spPr>
          <a:xfrm>
            <a:off x="1143000" y="4133087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El apaño de hoy</a:t>
            </a:r>
          </a:p>
        </p:txBody>
      </p:sp>
      <p:sp>
        <p:nvSpPr>
          <p:cNvPr id="13" name="rail-copy-2"/>
          <p:cNvSpPr txBox="1"/>
          <p:nvPr/>
        </p:nvSpPr>
        <p:spPr>
          <a:xfrm>
            <a:off x="4005072" y="4133087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Nodos de confianza, que ven la clave en claro. Un solo relé comprometido rompe toda la garantía cuántica. O satélites.</a:t>
            </a:r>
          </a:p>
        </p:txBody>
      </p:sp>
      <p:sp>
        <p:nvSpPr>
          <p:cNvPr id="14" name="rail-title-3"/>
          <p:cNvSpPr txBox="1"/>
          <p:nvPr/>
        </p:nvSpPr>
        <p:spPr>
          <a:xfrm>
            <a:off x="1143000" y="4864608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Lo que viene</a:t>
            </a:r>
          </a:p>
        </p:txBody>
      </p:sp>
      <p:sp>
        <p:nvSpPr>
          <p:cNvPr id="15" name="rail-copy-3"/>
          <p:cNvSpPr txBox="1"/>
          <p:nvPr/>
        </p:nvSpPr>
        <p:spPr>
          <a:xfrm>
            <a:off x="4005072" y="4864608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Febrero de 2026: primer entrelazamiento entre memorias a 10 km que dura más de lo que cuesta crearlo. Es el umbral de un repetidor de verdad.</a:t>
            </a:r>
          </a:p>
        </p:txBody>
      </p:sp>
      <p:sp>
        <p:nvSpPr>
          <p:cNvPr id="16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La no-clonación le da la garantía y le pone el techo. Es la misma ley, leída por sus dos caras.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La migración tiene cuatro pasos y empieza por un inventario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36</a:t>
            </a:r>
          </a:p>
        </p:txBody>
      </p:sp>
      <p:sp>
        <p:nvSpPr>
          <p:cNvPr id="6" name="step-circle-0"/>
          <p:cNvSpPr/>
          <p:nvPr/>
        </p:nvSpPr>
        <p:spPr>
          <a:xfrm>
            <a:off x="758952" y="2788920"/>
            <a:ext cx="804672" cy="804672"/>
          </a:xfrm>
          <a:prstGeom prst="ellipse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ep-num-0"/>
          <p:cNvSpPr txBox="1"/>
          <p:nvPr/>
        </p:nvSpPr>
        <p:spPr>
          <a:xfrm>
            <a:off x="758952" y="2898648"/>
            <a:ext cx="804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step-title-0"/>
          <p:cNvSpPr txBox="1"/>
          <p:nvPr/>
        </p:nvSpPr>
        <p:spPr>
          <a:xfrm>
            <a:off x="667512" y="3913631"/>
            <a:ext cx="23477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D3D3D"/>
                </a:solidFill>
                <a:latin typeface="Arial"/>
              </a:rPr>
              <a:t>Inventarie</a:t>
            </a:r>
          </a:p>
        </p:txBody>
      </p:sp>
      <p:sp>
        <p:nvSpPr>
          <p:cNvPr id="9" name="step-copy-0"/>
          <p:cNvSpPr txBox="1"/>
          <p:nvPr/>
        </p:nvSpPr>
        <p:spPr>
          <a:xfrm>
            <a:off x="667512" y="4462272"/>
            <a:ext cx="239344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Qué algoritmo usa cada sistema. Nadie lo sabe de memoria.</a:t>
            </a:r>
          </a:p>
        </p:txBody>
      </p:sp>
      <p:sp>
        <p:nvSpPr>
          <p:cNvPr id="10" name="step-arrow-0"/>
          <p:cNvSpPr txBox="1"/>
          <p:nvPr/>
        </p:nvSpPr>
        <p:spPr>
          <a:xfrm>
            <a:off x="2953512" y="2907791"/>
            <a:ext cx="859536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8E8E8"/>
                </a:solidFill>
                <a:latin typeface="Arial"/>
              </a:rPr>
              <a:t>→</a:t>
            </a:r>
          </a:p>
        </p:txBody>
      </p:sp>
      <p:sp>
        <p:nvSpPr>
          <p:cNvPr id="11" name="step-circle-1"/>
          <p:cNvSpPr/>
          <p:nvPr/>
        </p:nvSpPr>
        <p:spPr>
          <a:xfrm>
            <a:off x="3426714" y="2788920"/>
            <a:ext cx="804672" cy="804672"/>
          </a:xfrm>
          <a:prstGeom prst="ellipse">
            <a:avLst/>
          </a:prstGeom>
          <a:solidFill>
            <a:srgbClr val="E60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step-num-1"/>
          <p:cNvSpPr txBox="1"/>
          <p:nvPr/>
        </p:nvSpPr>
        <p:spPr>
          <a:xfrm>
            <a:off x="3426714" y="2898648"/>
            <a:ext cx="804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step-title-1"/>
          <p:cNvSpPr txBox="1"/>
          <p:nvPr/>
        </p:nvSpPr>
        <p:spPr>
          <a:xfrm>
            <a:off x="3335274" y="3913631"/>
            <a:ext cx="23477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D3D3D"/>
                </a:solidFill>
                <a:latin typeface="Arial"/>
              </a:rPr>
              <a:t>Clasifique</a:t>
            </a:r>
          </a:p>
        </p:txBody>
      </p:sp>
      <p:sp>
        <p:nvSpPr>
          <p:cNvPr id="14" name="step-copy-1"/>
          <p:cNvSpPr txBox="1"/>
          <p:nvPr/>
        </p:nvSpPr>
        <p:spPr>
          <a:xfrm>
            <a:off x="3335274" y="4462272"/>
            <a:ext cx="239344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Ordene por cuántos años debe durar cada secreto.</a:t>
            </a:r>
          </a:p>
        </p:txBody>
      </p:sp>
      <p:sp>
        <p:nvSpPr>
          <p:cNvPr id="15" name="step-arrow-1"/>
          <p:cNvSpPr txBox="1"/>
          <p:nvPr/>
        </p:nvSpPr>
        <p:spPr>
          <a:xfrm>
            <a:off x="5621274" y="2907791"/>
            <a:ext cx="859536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8E8E8"/>
                </a:solidFill>
                <a:latin typeface="Arial"/>
              </a:rPr>
              <a:t>→</a:t>
            </a:r>
          </a:p>
        </p:txBody>
      </p:sp>
      <p:sp>
        <p:nvSpPr>
          <p:cNvPr id="16" name="step-circle-2"/>
          <p:cNvSpPr/>
          <p:nvPr/>
        </p:nvSpPr>
        <p:spPr>
          <a:xfrm>
            <a:off x="6094476" y="2788920"/>
            <a:ext cx="804672" cy="804672"/>
          </a:xfrm>
          <a:prstGeom prst="ellipse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step-num-2"/>
          <p:cNvSpPr txBox="1"/>
          <p:nvPr/>
        </p:nvSpPr>
        <p:spPr>
          <a:xfrm>
            <a:off x="6094476" y="2898648"/>
            <a:ext cx="804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step-title-2"/>
          <p:cNvSpPr txBox="1"/>
          <p:nvPr/>
        </p:nvSpPr>
        <p:spPr>
          <a:xfrm>
            <a:off x="6003036" y="3913631"/>
            <a:ext cx="23477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D3D3D"/>
                </a:solidFill>
                <a:latin typeface="Arial"/>
              </a:rPr>
              <a:t>Hágase ágil</a:t>
            </a:r>
          </a:p>
        </p:txBody>
      </p:sp>
      <p:sp>
        <p:nvSpPr>
          <p:cNvPr id="19" name="step-copy-2"/>
          <p:cNvSpPr txBox="1"/>
          <p:nvPr/>
        </p:nvSpPr>
        <p:spPr>
          <a:xfrm>
            <a:off x="6003036" y="4462272"/>
            <a:ext cx="239344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Que cambiar de algoritmo no exija reescribir la aplicación.</a:t>
            </a:r>
          </a:p>
        </p:txBody>
      </p:sp>
      <p:sp>
        <p:nvSpPr>
          <p:cNvPr id="20" name="step-arrow-2"/>
          <p:cNvSpPr txBox="1"/>
          <p:nvPr/>
        </p:nvSpPr>
        <p:spPr>
          <a:xfrm>
            <a:off x="8289036" y="2907791"/>
            <a:ext cx="859536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8E8E8"/>
                </a:solidFill>
                <a:latin typeface="Arial"/>
              </a:rPr>
              <a:t>→</a:t>
            </a:r>
          </a:p>
        </p:txBody>
      </p:sp>
      <p:sp>
        <p:nvSpPr>
          <p:cNvPr id="21" name="step-circle-3"/>
          <p:cNvSpPr/>
          <p:nvPr/>
        </p:nvSpPr>
        <p:spPr>
          <a:xfrm>
            <a:off x="8762238" y="2788920"/>
            <a:ext cx="804672" cy="804672"/>
          </a:xfrm>
          <a:prstGeom prst="ellipse">
            <a:avLst/>
          </a:prstGeom>
          <a:solidFill>
            <a:srgbClr val="0B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step-num-3"/>
          <p:cNvSpPr txBox="1"/>
          <p:nvPr/>
        </p:nvSpPr>
        <p:spPr>
          <a:xfrm>
            <a:off x="8762238" y="2898648"/>
            <a:ext cx="804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step-title-3"/>
          <p:cNvSpPr txBox="1"/>
          <p:nvPr/>
        </p:nvSpPr>
        <p:spPr>
          <a:xfrm>
            <a:off x="8670798" y="3913631"/>
            <a:ext cx="23477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D3D3D"/>
                </a:solidFill>
                <a:latin typeface="Arial"/>
              </a:rPr>
              <a:t>Pruebe híbrido</a:t>
            </a:r>
          </a:p>
        </p:txBody>
      </p:sp>
      <p:sp>
        <p:nvSpPr>
          <p:cNvPr id="24" name="step-copy-3"/>
          <p:cNvSpPr txBox="1"/>
          <p:nvPr/>
        </p:nvSpPr>
        <p:spPr>
          <a:xfrm>
            <a:off x="8670798" y="4462272"/>
            <a:ext cx="239344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Ya funciona en producción: su navegador lo hace hoy.</a:t>
            </a:r>
          </a:p>
        </p:txBody>
      </p:sp>
      <p:sp>
        <p:nvSpPr>
          <p:cNvPr id="25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Esto no necesita un computador cuántico. Necesita un inventario y un plan — y empieza este año.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Hágase el inventario, ahora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37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El paso 1 no es teoría: es saber qué algoritmo usa cada sistema. Vamos a hacerlo con su propio dominio.</a:t>
            </a:r>
          </a:p>
        </p:txBody>
      </p:sp>
      <p:sp>
        <p:nvSpPr>
          <p:cNvPr id="7" name="card-bg-0"/>
          <p:cNvSpPr/>
          <p:nvPr/>
        </p:nvSpPr>
        <p:spPr>
          <a:xfrm>
            <a:off x="530352" y="2487168"/>
            <a:ext cx="3429000" cy="2560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card-num-0"/>
          <p:cNvSpPr txBox="1"/>
          <p:nvPr/>
        </p:nvSpPr>
        <p:spPr>
          <a:xfrm>
            <a:off x="758952" y="2697480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01</a:t>
            </a:r>
          </a:p>
        </p:txBody>
      </p:sp>
      <p:sp>
        <p:nvSpPr>
          <p:cNvPr id="9" name="card-title-0"/>
          <p:cNvSpPr txBox="1"/>
          <p:nvPr/>
        </p:nvSpPr>
        <p:spPr>
          <a:xfrm>
            <a:off x="758952" y="320040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Su navegador</a:t>
            </a:r>
          </a:p>
        </p:txBody>
      </p:sp>
      <p:sp>
        <p:nvSpPr>
          <p:cNvPr id="10" name="card-copy-0"/>
          <p:cNvSpPr txBox="1"/>
          <p:nvPr/>
        </p:nvSpPr>
        <p:spPr>
          <a:xfrm>
            <a:off x="758952" y="3995928"/>
            <a:ext cx="294436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Abra pq.cloudflareresearch.com. Le dirá si su conexión ya usó claves post-cuánticas. Sin instalar nada.</a:t>
            </a:r>
          </a:p>
        </p:txBody>
      </p:sp>
      <p:sp>
        <p:nvSpPr>
          <p:cNvPr id="11" name="card-bg-1"/>
          <p:cNvSpPr/>
          <p:nvPr/>
        </p:nvSpPr>
        <p:spPr>
          <a:xfrm>
            <a:off x="4379976" y="2487168"/>
            <a:ext cx="3429000" cy="2560320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card-num-1"/>
          <p:cNvSpPr txBox="1"/>
          <p:nvPr/>
        </p:nvSpPr>
        <p:spPr>
          <a:xfrm>
            <a:off x="4608576" y="2697480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02</a:t>
            </a:r>
          </a:p>
        </p:txBody>
      </p:sp>
      <p:sp>
        <p:nvSpPr>
          <p:cNvPr id="13" name="card-title-1"/>
          <p:cNvSpPr txBox="1"/>
          <p:nvPr/>
        </p:nvSpPr>
        <p:spPr>
          <a:xfrm>
            <a:off x="4608576" y="320040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Su dominio</a:t>
            </a:r>
          </a:p>
        </p:txBody>
      </p:sp>
      <p:sp>
        <p:nvSpPr>
          <p:cNvPr id="14" name="card-copy-1"/>
          <p:cNvSpPr txBox="1"/>
          <p:nvPr/>
        </p:nvSpPr>
        <p:spPr>
          <a:xfrm>
            <a:off x="4608576" y="3995928"/>
            <a:ext cx="294436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inventario_cripto.py www.suempresa.com — qué usa, qué cae con Shor y cuándo caduca su certificado.</a:t>
            </a:r>
          </a:p>
        </p:txBody>
      </p:sp>
      <p:sp>
        <p:nvSpPr>
          <p:cNvPr id="15" name="card-bg-2"/>
          <p:cNvSpPr/>
          <p:nvPr/>
        </p:nvSpPr>
        <p:spPr>
          <a:xfrm>
            <a:off x="8229600" y="2487168"/>
            <a:ext cx="3429000" cy="2560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card-num-2"/>
          <p:cNvSpPr txBox="1"/>
          <p:nvPr/>
        </p:nvSpPr>
        <p:spPr>
          <a:xfrm>
            <a:off x="8458200" y="2697480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03</a:t>
            </a:r>
          </a:p>
        </p:txBody>
      </p:sp>
      <p:sp>
        <p:nvSpPr>
          <p:cNvPr id="17" name="card-title-2"/>
          <p:cNvSpPr txBox="1"/>
          <p:nvPr/>
        </p:nvSpPr>
        <p:spPr>
          <a:xfrm>
            <a:off x="8458200" y="320040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Su decisión</a:t>
            </a:r>
          </a:p>
        </p:txBody>
      </p:sp>
      <p:sp>
        <p:nvSpPr>
          <p:cNvPr id="18" name="card-copy-2"/>
          <p:cNvSpPr txBox="1"/>
          <p:nvPr/>
        </p:nvSpPr>
        <p:spPr>
          <a:xfrm>
            <a:off x="8458200" y="3995928"/>
            <a:ext cx="294436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La misma herramienta, con --mosca y sus años reales. ¿Ya llegó tarde, y por cuánto?</a:t>
            </a:r>
          </a:p>
        </p:txBody>
      </p:sp>
      <p:sp>
        <p:nvSpPr>
          <p:cNvPr id="19" name="strip-bg"/>
          <p:cNvSpPr/>
          <p:nvPr/>
        </p:nvSpPr>
        <p:spPr>
          <a:xfrm>
            <a:off x="530352" y="5715000"/>
            <a:ext cx="11128248" cy="493776"/>
          </a:xfrm>
          <a:prstGeom prst="rect">
            <a:avLst/>
          </a:prstGeom>
          <a:solidFill>
            <a:srgbClr val="F0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strip-text"/>
          <p:cNvSpPr txBox="1"/>
          <p:nvPr/>
        </p:nvSpPr>
        <p:spPr>
          <a:xfrm>
            <a:off x="722375" y="5815584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E6007C"/>
                </a:solidFill>
                <a:latin typeface="Arial"/>
              </a:rPr>
              <a:t>github.com/lpachon/tamizador-cuantico   ·   15 minutos   ·   use el dominio de su empresa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rail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ection-kicker"/>
          <p:cNvSpPr txBox="1"/>
          <p:nvPr/>
        </p:nvSpPr>
        <p:spPr>
          <a:xfrm>
            <a:off x="594360" y="2148840"/>
            <a:ext cx="73152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DEAFA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4" name="section-title"/>
          <p:cNvSpPr txBox="1"/>
          <p:nvPr/>
        </p:nvSpPr>
        <p:spPr>
          <a:xfrm>
            <a:off x="594360" y="274320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El otro reloj:</a:t>
            </a:r>
          </a:p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un caso real, de principio a fin</a:t>
            </a:r>
          </a:p>
        </p:txBody>
      </p:sp>
      <p:sp>
        <p:nvSpPr>
          <p:cNvPr id="5" name="section-sub"/>
          <p:cNvSpPr txBox="1"/>
          <p:nvPr/>
        </p:nvSpPr>
        <p:spPr>
          <a:xfrm>
            <a:off x="594360" y="4343400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0">
                <a:solidFill>
                  <a:srgbClr val="CDEAFA"/>
                </a:solidFill>
                <a:latin typeface="Arial"/>
              </a:rPr>
              <a:t>Cómo se lleva un problema de ingeniería real hasta la máquina, y en qué paso aparece el muro.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El problema: el ascenso de un A320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39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Airbus lo publicó como reto abierto. Lo tomamos entero, sin simplificarlo para que cupiera en la máquina.</a:t>
            </a:r>
          </a:p>
        </p:txBody>
      </p:sp>
      <p:sp>
        <p:nvSpPr>
          <p:cNvPr id="7" name="card-bg-0"/>
          <p:cNvSpPr/>
          <p:nvPr/>
        </p:nvSpPr>
        <p:spPr>
          <a:xfrm>
            <a:off x="530352" y="2487168"/>
            <a:ext cx="3429000" cy="2560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card-num-0"/>
          <p:cNvSpPr txBox="1"/>
          <p:nvPr/>
        </p:nvSpPr>
        <p:spPr>
          <a:xfrm>
            <a:off x="758952" y="2697480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01</a:t>
            </a:r>
          </a:p>
        </p:txBody>
      </p:sp>
      <p:sp>
        <p:nvSpPr>
          <p:cNvPr id="9" name="card-title-0"/>
          <p:cNvSpPr txBox="1"/>
          <p:nvPr/>
        </p:nvSpPr>
        <p:spPr>
          <a:xfrm>
            <a:off x="758952" y="320040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El problema</a:t>
            </a:r>
          </a:p>
        </p:txBody>
      </p:sp>
      <p:sp>
        <p:nvSpPr>
          <p:cNvPr id="10" name="card-copy-0"/>
          <p:cNvSpPr txBox="1"/>
          <p:nvPr/>
        </p:nvSpPr>
        <p:spPr>
          <a:xfrm>
            <a:off x="758952" y="3995928"/>
            <a:ext cx="294436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Un ascenso de 10.000 a 36.000 pies: 364 variables y 260 restricciones.</a:t>
            </a:r>
          </a:p>
        </p:txBody>
      </p:sp>
      <p:sp>
        <p:nvSpPr>
          <p:cNvPr id="11" name="card-bg-1"/>
          <p:cNvSpPr/>
          <p:nvPr/>
        </p:nvSpPr>
        <p:spPr>
          <a:xfrm>
            <a:off x="4379976" y="2487168"/>
            <a:ext cx="3429000" cy="2560320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card-num-1"/>
          <p:cNvSpPr txBox="1"/>
          <p:nvPr/>
        </p:nvSpPr>
        <p:spPr>
          <a:xfrm>
            <a:off x="4608576" y="2697480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02</a:t>
            </a:r>
          </a:p>
        </p:txBody>
      </p:sp>
      <p:sp>
        <p:nvSpPr>
          <p:cNvPr id="13" name="card-title-1"/>
          <p:cNvSpPr txBox="1"/>
          <p:nvPr/>
        </p:nvSpPr>
        <p:spPr>
          <a:xfrm>
            <a:off x="4608576" y="320040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El objetivo</a:t>
            </a:r>
          </a:p>
        </p:txBody>
      </p:sp>
      <p:sp>
        <p:nvSpPr>
          <p:cNvPr id="14" name="card-copy-1"/>
          <p:cNvSpPr txBox="1"/>
          <p:nvPr/>
        </p:nvSpPr>
        <p:spPr>
          <a:xfrm>
            <a:off x="4608576" y="3995928"/>
            <a:ext cx="294436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Gastar menos combustible y menos tiempo hasta alcanzar el crucero.</a:t>
            </a:r>
          </a:p>
        </p:txBody>
      </p:sp>
      <p:sp>
        <p:nvSpPr>
          <p:cNvPr id="15" name="card-bg-2"/>
          <p:cNvSpPr/>
          <p:nvPr/>
        </p:nvSpPr>
        <p:spPr>
          <a:xfrm>
            <a:off x="8229600" y="2487168"/>
            <a:ext cx="3429000" cy="2560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card-num-2"/>
          <p:cNvSpPr txBox="1"/>
          <p:nvPr/>
        </p:nvSpPr>
        <p:spPr>
          <a:xfrm>
            <a:off x="8458200" y="2697480"/>
            <a:ext cx="667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03</a:t>
            </a:r>
          </a:p>
        </p:txBody>
      </p:sp>
      <p:sp>
        <p:nvSpPr>
          <p:cNvPr id="17" name="card-title-2"/>
          <p:cNvSpPr txBox="1"/>
          <p:nvPr/>
        </p:nvSpPr>
        <p:spPr>
          <a:xfrm>
            <a:off x="8458200" y="320040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D3D3D"/>
                </a:solidFill>
                <a:latin typeface="Arial"/>
              </a:rPr>
              <a:t>Por qué le importa</a:t>
            </a:r>
          </a:p>
        </p:txBody>
      </p:sp>
      <p:sp>
        <p:nvSpPr>
          <p:cNvPr id="18" name="card-copy-2"/>
          <p:cNvSpPr txBox="1"/>
          <p:nvPr/>
        </p:nvSpPr>
        <p:spPr>
          <a:xfrm>
            <a:off x="8458200" y="3995928"/>
            <a:ext cx="294436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Ruteo, turnos, asignación de carga y portafolio son primos de este problema.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El problema, en un dibujo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40</a:t>
            </a:r>
          </a:p>
        </p:txBody>
      </p:sp>
      <p:pic>
        <p:nvPicPr>
          <p:cNvPr id="6" name="Picture 5" descr="problema_air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44" y="1874519"/>
            <a:ext cx="1051046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La metodología, que es lo que usted puede reutilizar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41</a:t>
            </a:r>
          </a:p>
        </p:txBody>
      </p:sp>
      <p:sp>
        <p:nvSpPr>
          <p:cNvPr id="6" name="timeline-axis"/>
          <p:cNvSpPr/>
          <p:nvPr/>
        </p:nvSpPr>
        <p:spPr>
          <a:xfrm>
            <a:off x="1051560" y="3383280"/>
            <a:ext cx="9811512" cy="274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l-dot-0"/>
          <p:cNvSpPr/>
          <p:nvPr/>
        </p:nvSpPr>
        <p:spPr>
          <a:xfrm>
            <a:off x="877824" y="3154680"/>
            <a:ext cx="347472" cy="347472"/>
          </a:xfrm>
          <a:prstGeom prst="ellipse">
            <a:avLst/>
          </a:prstGeom>
          <a:solidFill>
            <a:srgbClr val="0B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l-time-0"/>
          <p:cNvSpPr txBox="1"/>
          <p:nvPr/>
        </p:nvSpPr>
        <p:spPr>
          <a:xfrm>
            <a:off x="841247" y="250545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2D43"/>
                </a:solidFill>
                <a:latin typeface="Arial"/>
              </a:rPr>
              <a:t>01</a:t>
            </a:r>
          </a:p>
        </p:txBody>
      </p:sp>
      <p:sp>
        <p:nvSpPr>
          <p:cNvPr id="9" name="tl-title-0"/>
          <p:cNvSpPr txBox="1"/>
          <p:nvPr/>
        </p:nvSpPr>
        <p:spPr>
          <a:xfrm>
            <a:off x="841247" y="384048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Modelar</a:t>
            </a:r>
          </a:p>
        </p:txBody>
      </p:sp>
      <p:sp>
        <p:nvSpPr>
          <p:cNvPr id="10" name="tl-copy-0"/>
          <p:cNvSpPr txBox="1"/>
          <p:nvPr/>
        </p:nvSpPr>
        <p:spPr>
          <a:xfrm>
            <a:off x="841247" y="437083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Física y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restricciones reales</a:t>
            </a:r>
          </a:p>
        </p:txBody>
      </p:sp>
      <p:sp>
        <p:nvSpPr>
          <p:cNvPr id="11" name="tl-dot-1"/>
          <p:cNvSpPr/>
          <p:nvPr/>
        </p:nvSpPr>
        <p:spPr>
          <a:xfrm>
            <a:off x="2878074" y="3154680"/>
            <a:ext cx="347472" cy="347472"/>
          </a:xfrm>
          <a:prstGeom prst="ellipse">
            <a:avLst/>
          </a:prstGeom>
          <a:solidFill>
            <a:srgbClr val="0B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l-time-1"/>
          <p:cNvSpPr txBox="1"/>
          <p:nvPr/>
        </p:nvSpPr>
        <p:spPr>
          <a:xfrm>
            <a:off x="2841498" y="250545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2D43"/>
                </a:solidFill>
                <a:latin typeface="Arial"/>
              </a:rPr>
              <a:t>02</a:t>
            </a:r>
          </a:p>
        </p:txBody>
      </p:sp>
      <p:sp>
        <p:nvSpPr>
          <p:cNvPr id="13" name="tl-title-1"/>
          <p:cNvSpPr txBox="1"/>
          <p:nvPr/>
        </p:nvSpPr>
        <p:spPr>
          <a:xfrm>
            <a:off x="2841498" y="384048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Reducir</a:t>
            </a:r>
          </a:p>
        </p:txBody>
      </p:sp>
      <p:sp>
        <p:nvSpPr>
          <p:cNvPr id="14" name="tl-copy-1"/>
          <p:cNvSpPr txBox="1"/>
          <p:nvPr/>
        </p:nvSpPr>
        <p:spPr>
          <a:xfrm>
            <a:off x="2841498" y="437083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Menos variables,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antes de la máquina</a:t>
            </a:r>
          </a:p>
        </p:txBody>
      </p:sp>
      <p:sp>
        <p:nvSpPr>
          <p:cNvPr id="15" name="tl-dot-2"/>
          <p:cNvSpPr/>
          <p:nvPr/>
        </p:nvSpPr>
        <p:spPr>
          <a:xfrm>
            <a:off x="4878324" y="3154680"/>
            <a:ext cx="347472" cy="347472"/>
          </a:xfrm>
          <a:prstGeom prst="ellipse">
            <a:avLst/>
          </a:prstGeom>
          <a:solidFill>
            <a:srgbClr val="E60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l-time-2"/>
          <p:cNvSpPr txBox="1"/>
          <p:nvPr/>
        </p:nvSpPr>
        <p:spPr>
          <a:xfrm>
            <a:off x="4841748" y="250545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E6007C"/>
                </a:solidFill>
                <a:latin typeface="Arial"/>
              </a:rPr>
              <a:t>03</a:t>
            </a:r>
          </a:p>
        </p:txBody>
      </p:sp>
      <p:sp>
        <p:nvSpPr>
          <p:cNvPr id="17" name="tl-title-2"/>
          <p:cNvSpPr txBox="1"/>
          <p:nvPr/>
        </p:nvSpPr>
        <p:spPr>
          <a:xfrm>
            <a:off x="4841748" y="384048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Formular</a:t>
            </a:r>
          </a:p>
        </p:txBody>
      </p:sp>
      <p:sp>
        <p:nvSpPr>
          <p:cNvPr id="18" name="tl-copy-2"/>
          <p:cNvSpPr txBox="1"/>
          <p:nvPr/>
        </p:nvSpPr>
        <p:spPr>
          <a:xfrm>
            <a:off x="4841748" y="437083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Al único formato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que la máquina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acepta</a:t>
            </a:r>
          </a:p>
        </p:txBody>
      </p:sp>
      <p:sp>
        <p:nvSpPr>
          <p:cNvPr id="19" name="tl-dot-3"/>
          <p:cNvSpPr/>
          <p:nvPr/>
        </p:nvSpPr>
        <p:spPr>
          <a:xfrm>
            <a:off x="6878574" y="3154680"/>
            <a:ext cx="347472" cy="347472"/>
          </a:xfrm>
          <a:prstGeom prst="ellipse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l-time-3"/>
          <p:cNvSpPr txBox="1"/>
          <p:nvPr/>
        </p:nvSpPr>
        <p:spPr>
          <a:xfrm>
            <a:off x="6841998" y="250545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2377A1"/>
                </a:solidFill>
                <a:latin typeface="Arial"/>
              </a:rPr>
              <a:t>04</a:t>
            </a:r>
          </a:p>
        </p:txBody>
      </p:sp>
      <p:sp>
        <p:nvSpPr>
          <p:cNvPr id="21" name="tl-title-3"/>
          <p:cNvSpPr txBox="1"/>
          <p:nvPr/>
        </p:nvSpPr>
        <p:spPr>
          <a:xfrm>
            <a:off x="6841998" y="384048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Ejecutar</a:t>
            </a:r>
          </a:p>
        </p:txBody>
      </p:sp>
      <p:sp>
        <p:nvSpPr>
          <p:cNvPr id="22" name="tl-copy-3"/>
          <p:cNvSpPr txBox="1"/>
          <p:nvPr/>
        </p:nvSpPr>
        <p:spPr>
          <a:xfrm>
            <a:off x="6841998" y="437083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QAOA, el algoritmo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cuántico, en un chip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real de IBM</a:t>
            </a:r>
          </a:p>
        </p:txBody>
      </p:sp>
      <p:sp>
        <p:nvSpPr>
          <p:cNvPr id="23" name="tl-dot-4"/>
          <p:cNvSpPr/>
          <p:nvPr/>
        </p:nvSpPr>
        <p:spPr>
          <a:xfrm>
            <a:off x="8878824" y="3154680"/>
            <a:ext cx="347472" cy="347472"/>
          </a:xfrm>
          <a:prstGeom prst="ellipse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l-time-4"/>
          <p:cNvSpPr txBox="1"/>
          <p:nvPr/>
        </p:nvSpPr>
        <p:spPr>
          <a:xfrm>
            <a:off x="8842248" y="250545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DD0034"/>
                </a:solidFill>
                <a:latin typeface="Arial"/>
              </a:rPr>
              <a:t>05</a:t>
            </a:r>
          </a:p>
        </p:txBody>
      </p:sp>
      <p:sp>
        <p:nvSpPr>
          <p:cNvPr id="25" name="tl-title-4"/>
          <p:cNvSpPr txBox="1"/>
          <p:nvPr/>
        </p:nvSpPr>
        <p:spPr>
          <a:xfrm>
            <a:off x="8842248" y="384048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Evaluar</a:t>
            </a:r>
          </a:p>
        </p:txBody>
      </p:sp>
      <p:sp>
        <p:nvSpPr>
          <p:cNvPr id="26" name="tl-copy-4"/>
          <p:cNvSpPr txBox="1"/>
          <p:nvPr/>
        </p:nvSpPr>
        <p:spPr>
          <a:xfrm>
            <a:off x="8842248" y="437083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Contra un control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aleatorio</a:t>
            </a:r>
          </a:p>
        </p:txBody>
      </p:sp>
      <p:sp>
        <p:nvSpPr>
          <p:cNvPr id="27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El paso 05 es el que casi nadie hace. Sin un control que no use cuántica, no hay afirmación que defender.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De una velocidad a doce qubits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43</a:t>
            </a:r>
          </a:p>
        </p:txBody>
      </p:sp>
      <p:pic>
        <p:nvPicPr>
          <p:cNvPr id="6" name="Picture 5" descr="codificacion_qu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01" y="1874519"/>
            <a:ext cx="1076014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3D3D3D"/>
                </a:solidFill>
                <a:latin typeface="Arial"/>
              </a:rPr>
              <a:t>Su fórmula tampoco entra: hay que traducirla a un QUBO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44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La máquina acepta una sola forma de problema, y tiene nombre: QUBO — optimización binaria, cuadrática y sin restricciones.</a:t>
            </a:r>
          </a:p>
        </p:txBody>
      </p:sp>
      <p:sp>
        <p:nvSpPr>
          <p:cNvPr id="7" name="panel-bg-0"/>
          <p:cNvSpPr/>
          <p:nvPr/>
        </p:nvSpPr>
        <p:spPr>
          <a:xfrm>
            <a:off x="530352" y="2523744"/>
            <a:ext cx="5285232" cy="285292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anel-title-0"/>
          <p:cNvSpPr txBox="1"/>
          <p:nvPr/>
        </p:nvSpPr>
        <p:spPr>
          <a:xfrm>
            <a:off x="841247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Lo que usted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tiene</a:t>
            </a:r>
          </a:p>
        </p:txBody>
      </p:sp>
      <p:sp>
        <p:nvSpPr>
          <p:cNvPr id="9" name="panel-note-0"/>
          <p:cNvSpPr txBox="1"/>
          <p:nvPr/>
        </p:nvSpPr>
        <p:spPr>
          <a:xfrm>
            <a:off x="841247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Su modelo, tal cual</a:t>
            </a:r>
          </a:p>
        </p:txBody>
      </p:sp>
      <p:sp>
        <p:nvSpPr>
          <p:cNvPr id="10" name="panel-copy-0"/>
          <p:cNvSpPr txBox="1"/>
          <p:nvPr/>
        </p:nvSpPr>
        <p:spPr>
          <a:xfrm>
            <a:off x="841247" y="4434840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Senos, logaritmos, una integral de crucero y cinco restricciones que deciden si la trayectoria existe siquiera.</a:t>
            </a:r>
          </a:p>
        </p:txBody>
      </p:sp>
      <p:sp>
        <p:nvSpPr>
          <p:cNvPr id="11" name="panel-bg-1"/>
          <p:cNvSpPr/>
          <p:nvPr/>
        </p:nvSpPr>
        <p:spPr>
          <a:xfrm>
            <a:off x="6373368" y="2523744"/>
            <a:ext cx="5285232" cy="2852928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anel-title-1"/>
          <p:cNvSpPr txBox="1"/>
          <p:nvPr/>
        </p:nvSpPr>
        <p:spPr>
          <a:xfrm>
            <a:off x="6684264" y="2816351"/>
            <a:ext cx="4334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Lo que la</a:t>
            </a:r>
          </a:p>
          <a:p>
            <a:pPr algn="l">
              <a:lnSpc>
                <a:spcPct val="100000"/>
              </a:lnSpc>
            </a:pPr>
            <a:r>
              <a:rPr sz="2850" b="1">
                <a:solidFill>
                  <a:srgbClr val="3D3D3D"/>
                </a:solidFill>
                <a:latin typeface="Arial"/>
              </a:rPr>
              <a:t>máquina acepta</a:t>
            </a:r>
          </a:p>
        </p:txBody>
      </p:sp>
      <p:sp>
        <p:nvSpPr>
          <p:cNvPr id="13" name="panel-note-1"/>
          <p:cNvSpPr txBox="1"/>
          <p:nvPr/>
        </p:nvSpPr>
        <p:spPr>
          <a:xfrm>
            <a:off x="6684264" y="39593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2D43"/>
                </a:solidFill>
                <a:latin typeface="Arial"/>
              </a:rPr>
              <a:t>Binaria · cuadrática · sin restricciones</a:t>
            </a:r>
          </a:p>
        </p:txBody>
      </p:sp>
      <p:sp>
        <p:nvSpPr>
          <p:cNvPr id="14" name="panel-copy-1"/>
          <p:cNvSpPr txBox="1"/>
          <p:nvPr/>
        </p:nvSpPr>
        <p:spPr>
          <a:xfrm>
            <a:off x="6684264" y="4434840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Variables que solo valen 0 o 1, términos qi y qi·qj, y nada más. Sus 260 restricciones no tienen dónde ir.</a:t>
            </a:r>
          </a:p>
        </p:txBody>
      </p:sp>
      <p:sp>
        <p:nvSpPr>
          <p:cNvPr id="15" name="strip-bg"/>
          <p:cNvSpPr/>
          <p:nvPr/>
        </p:nvSpPr>
        <p:spPr>
          <a:xfrm>
            <a:off x="530352" y="5596128"/>
            <a:ext cx="11128248" cy="71323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strip-text"/>
          <p:cNvSpPr txBox="1"/>
          <p:nvPr/>
        </p:nvSpPr>
        <p:spPr>
          <a:xfrm>
            <a:off x="722375" y="569671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FFFFFF"/>
                </a:solidFill>
                <a:latin typeface="Arial"/>
              </a:rPr>
              <a:t>«Sin restricciones» no es un detalle del nombre: es el problema. Las suyas hay que meterlas dentro del propio objetivo, como penalizaciones.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La codificación es donde aparece el muro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45</a:t>
            </a:r>
          </a:p>
        </p:txBody>
      </p:sp>
      <p:sp>
        <p:nvSpPr>
          <p:cNvPr id="6" name="rail"/>
          <p:cNvSpPr/>
          <p:nvPr/>
        </p:nvSpPr>
        <p:spPr>
          <a:xfrm>
            <a:off x="740664" y="2788920"/>
            <a:ext cx="91440" cy="2962656"/>
          </a:xfrm>
          <a:prstGeom prst="rect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ail-title-0"/>
          <p:cNvSpPr txBox="1"/>
          <p:nvPr/>
        </p:nvSpPr>
        <p:spPr>
          <a:xfrm>
            <a:off x="1143000" y="2724912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14 qubits</a:t>
            </a:r>
          </a:p>
        </p:txBody>
      </p:sp>
      <p:sp>
        <p:nvSpPr>
          <p:cNvPr id="8" name="rail-copy-0"/>
          <p:cNvSpPr txBox="1"/>
          <p:nvPr/>
        </p:nvSpPr>
        <p:spPr>
          <a:xfrm>
            <a:off x="4005072" y="2724912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El caso más pequeño cabe y se ejecuta sin problema en hardware real.</a:t>
            </a:r>
          </a:p>
        </p:txBody>
      </p:sp>
      <p:sp>
        <p:nvSpPr>
          <p:cNvPr id="9" name="rail-title-1"/>
          <p:cNvSpPr txBox="1"/>
          <p:nvPr/>
        </p:nvSpPr>
        <p:spPr>
          <a:xfrm>
            <a:off x="1143000" y="3456432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25 qubits</a:t>
            </a:r>
          </a:p>
        </p:txBody>
      </p:sp>
      <p:sp>
        <p:nvSpPr>
          <p:cNvPr id="10" name="rail-copy-1"/>
          <p:cNvSpPr txBox="1"/>
          <p:nvPr/>
        </p:nvSpPr>
        <p:spPr>
          <a:xfrm>
            <a:off x="4005072" y="3456432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El siguiente tamaño ya no cabe siquiera en simulación exacta.</a:t>
            </a:r>
          </a:p>
        </p:txBody>
      </p:sp>
      <p:sp>
        <p:nvSpPr>
          <p:cNvPr id="11" name="rail-title-2"/>
          <p:cNvSpPr txBox="1"/>
          <p:nvPr/>
        </p:nvSpPr>
        <p:spPr>
          <a:xfrm>
            <a:off x="1143000" y="4187952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Región factible</a:t>
            </a:r>
          </a:p>
        </p:txBody>
      </p:sp>
      <p:sp>
        <p:nvSpPr>
          <p:cNvPr id="12" name="rail-copy-2"/>
          <p:cNvSpPr txBox="1"/>
          <p:nvPr/>
        </p:nvSpPr>
        <p:spPr>
          <a:xfrm>
            <a:off x="4005072" y="4187952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Las trayectorias válidas son una fracción ínfima de todo el espacio.</a:t>
            </a:r>
          </a:p>
        </p:txBody>
      </p:sp>
      <p:sp>
        <p:nvSpPr>
          <p:cNvPr id="13" name="rail-title-3"/>
          <p:cNvSpPr txBox="1"/>
          <p:nvPr/>
        </p:nvSpPr>
        <p:spPr>
          <a:xfrm>
            <a:off x="1143000" y="4919472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77A1"/>
                </a:solidFill>
                <a:latin typeface="Arial"/>
              </a:rPr>
              <a:t>Costo plano</a:t>
            </a:r>
          </a:p>
        </p:txBody>
      </p:sp>
      <p:sp>
        <p:nvSpPr>
          <p:cNvPr id="14" name="rail-copy-3"/>
          <p:cNvSpPr txBox="1"/>
          <p:nvPr/>
        </p:nvSpPr>
        <p:spPr>
          <a:xfrm>
            <a:off x="4005072" y="4919472"/>
            <a:ext cx="7187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26262"/>
                </a:solidFill>
                <a:latin typeface="Arial"/>
              </a:rPr>
              <a:t>Y dentro de esa región casi todas las soluciones valen lo mismo.</a:t>
            </a:r>
          </a:p>
        </p:txBody>
      </p:sp>
      <p:sp>
        <p:nvSpPr>
          <p:cNvPr id="15" name="note"/>
          <p:cNvSpPr txBox="1"/>
          <p:nvPr/>
        </p:nvSpPr>
        <p:spPr>
          <a:xfrm>
            <a:off x="530352" y="5760720"/>
            <a:ext cx="11128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B2D43"/>
                </a:solidFill>
                <a:latin typeface="Arial"/>
              </a:rPr>
              <a:t>Las dos últimas filas son las que matan la ventaja: nada que buscar, nada que ganar al encontrarlo.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Lo que sí funcionó, y dónde estaba la palanca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48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Cambiamos la codificación para que respetara la estructura del problema. Mismo hardware, mismo algoritmo, mismas semillas.</a:t>
            </a:r>
          </a:p>
        </p:txBody>
      </p:sp>
      <p:sp>
        <p:nvSpPr>
          <p:cNvPr id="7" name="stat-0"/>
          <p:cNvSpPr txBox="1"/>
          <p:nvPr/>
        </p:nvSpPr>
        <p:spPr>
          <a:xfrm>
            <a:off x="530352" y="303580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2377A1"/>
                </a:solidFill>
                <a:latin typeface="Arial"/>
              </a:rPr>
              <a:t>8×</a:t>
            </a:r>
          </a:p>
        </p:txBody>
      </p:sp>
      <p:sp>
        <p:nvSpPr>
          <p:cNvPr id="8" name="stat-label-0"/>
          <p:cNvSpPr txBox="1"/>
          <p:nvPr/>
        </p:nvSpPr>
        <p:spPr>
          <a:xfrm>
            <a:off x="548640" y="4133087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más soluciones válidas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que la codificación ingenua</a:t>
            </a:r>
          </a:p>
        </p:txBody>
      </p:sp>
      <p:sp>
        <p:nvSpPr>
          <p:cNvPr id="9" name="vrule-1"/>
          <p:cNvSpPr/>
          <p:nvPr/>
        </p:nvSpPr>
        <p:spPr>
          <a:xfrm>
            <a:off x="3965448" y="2852928"/>
            <a:ext cx="18288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stat-1"/>
          <p:cNvSpPr txBox="1"/>
          <p:nvPr/>
        </p:nvSpPr>
        <p:spPr>
          <a:xfrm>
            <a:off x="4239768" y="303580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2377A1"/>
                </a:solidFill>
                <a:latin typeface="Arial"/>
              </a:rPr>
              <a:t>12 / 12</a:t>
            </a:r>
          </a:p>
        </p:txBody>
      </p:sp>
      <p:sp>
        <p:nvSpPr>
          <p:cNvPr id="11" name="stat-label-1"/>
          <p:cNvSpPr txBox="1"/>
          <p:nvPr/>
        </p:nvSpPr>
        <p:spPr>
          <a:xfrm>
            <a:off x="4258056" y="4133087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semillas en que ganó,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sobre hardware real</a:t>
            </a:r>
          </a:p>
        </p:txBody>
      </p:sp>
      <p:sp>
        <p:nvSpPr>
          <p:cNvPr id="12" name="vrule-2"/>
          <p:cNvSpPr/>
          <p:nvPr/>
        </p:nvSpPr>
        <p:spPr>
          <a:xfrm>
            <a:off x="7674863" y="2852928"/>
            <a:ext cx="18288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stat-2"/>
          <p:cNvSpPr txBox="1"/>
          <p:nvPr/>
        </p:nvSpPr>
        <p:spPr>
          <a:xfrm>
            <a:off x="7949184" y="303580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DD0034"/>
                </a:solidFill>
                <a:latin typeface="Arial"/>
              </a:rPr>
              <a:t>0,0002</a:t>
            </a:r>
          </a:p>
        </p:txBody>
      </p:sp>
      <p:sp>
        <p:nvSpPr>
          <p:cNvPr id="14" name="stat-label-2"/>
          <p:cNvSpPr txBox="1"/>
          <p:nvPr/>
        </p:nvSpPr>
        <p:spPr>
          <a:xfrm>
            <a:off x="7967472" y="4133087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valor p: esta vez sí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626262"/>
                </a:solidFill>
                <a:latin typeface="Arial"/>
              </a:rPr>
              <a:t>es significativo</a:t>
            </a:r>
          </a:p>
        </p:txBody>
      </p:sp>
      <p:sp>
        <p:nvSpPr>
          <p:cNvPr id="15" name="note"/>
          <p:cNvSpPr txBox="1"/>
          <p:nvPr/>
        </p:nvSpPr>
        <p:spPr>
          <a:xfrm>
            <a:off x="530352" y="5669280"/>
            <a:ext cx="11128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B2D43"/>
                </a:solidFill>
                <a:latin typeface="Arial"/>
              </a:rPr>
              <a:t>La palanca no estuvo en la máquina: estuvo en darle al problema algo que cancelar.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rail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37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ection-kicker"/>
          <p:cNvSpPr txBox="1"/>
          <p:nvPr/>
        </p:nvSpPr>
        <p:spPr>
          <a:xfrm>
            <a:off x="594360" y="2148840"/>
            <a:ext cx="73152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DEAFA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4" name="section-title"/>
          <p:cNvSpPr txBox="1"/>
          <p:nvPr/>
        </p:nvSpPr>
        <p:spPr>
          <a:xfrm>
            <a:off x="594360" y="274320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Tamice su problema</a:t>
            </a:r>
          </a:p>
        </p:txBody>
      </p:sp>
      <p:sp>
        <p:nvSpPr>
          <p:cNvPr id="5" name="section-sub"/>
          <p:cNvSpPr txBox="1"/>
          <p:nvPr/>
        </p:nvSpPr>
        <p:spPr>
          <a:xfrm>
            <a:off x="594360" y="4343400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0">
                <a:solidFill>
                  <a:srgbClr val="CDEAFA"/>
                </a:solidFill>
                <a:latin typeface="Arial"/>
              </a:rPr>
              <a:t>Cinco medidas, cinco umbrales, un veredicto. En su portátil, en minutos, sin cuenta de IBM.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El filtro, convertido en procedimiento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50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Cada pregunta es una medida con un umbral: sirven para confirmar rápido y barato si su problema está en el nivel 4.</a:t>
            </a:r>
          </a:p>
        </p:txBody>
      </p:sp>
      <p:graphicFrame>
        <p:nvGraphicFramePr>
          <p:cNvPr id="7" name="emertech-table"/>
          <p:cNvGraphicFramePr>
            <a:graphicFrameLocks noGrp="1"/>
          </p:cNvGraphicFramePr>
          <p:nvPr/>
        </p:nvGraphicFramePr>
        <p:xfrm>
          <a:off x="530352" y="2560320"/>
          <a:ext cx="11128245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43007"/>
                <a:gridCol w="3126945"/>
                <a:gridCol w="2575131"/>
                <a:gridCol w="2483162"/>
              </a:tblGrid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Pregunta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Qué se mide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Cómo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Umbral de descarte</a:t>
                      </a:r>
                    </a:p>
                  </a:txBody>
                  <a:tcPr marL="91440" marR="91440" marT="50292" marB="50292" anchor="ctr">
                    <a:solidFill>
                      <a:srgbClr val="3D3D3D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¿Cabe?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Qubits y profundidad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Variables × bits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&gt; 30 qubits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¿Sobrevive a QUBO?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Cuadrática sobre los bits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ρ de Spearman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ρ &lt; 0,90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¿Las válidas son raras?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Rendimiento de factibilidad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Muestreo Sobol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&lt; 0,1 %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¿El costo es plano?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Dispersión, en unidades del objetivo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Percentiles 5 y 95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&lt; 3× su ruido</a:t>
                      </a:r>
                    </a:p>
                  </a:txBody>
                  <a:tcPr marL="91440" marR="91440" marT="50292" marB="50292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D0034"/>
                          </a:solidFill>
                          <a:latin typeface="Arial"/>
                        </a:rPr>
                        <a:t>Línea base clásica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Mejor valor en el mismo tiempo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Sobol y COBYLA, clásicos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26262"/>
                          </a:solidFill>
                          <a:latin typeface="Arial"/>
                        </a:rPr>
                        <a:t>la cifra a batir</a:t>
                      </a:r>
                    </a:p>
                  </a:txBody>
                  <a:tcPr marL="91440" marR="91440" marT="50292" marB="50292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Ahora el suyo: tamice un problema de su empresa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52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Traiga un problema de decisión real. Cotas de cada variable y una función que devuelva el costo, o NaN si viola una restricción.</a:t>
            </a:r>
          </a:p>
        </p:txBody>
      </p:sp>
      <p:sp>
        <p:nvSpPr>
          <p:cNvPr id="7" name="row-num-0"/>
          <p:cNvSpPr txBox="1"/>
          <p:nvPr/>
        </p:nvSpPr>
        <p:spPr>
          <a:xfrm>
            <a:off x="530352" y="2788920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01</a:t>
            </a:r>
          </a:p>
        </p:txBody>
      </p:sp>
      <p:sp>
        <p:nvSpPr>
          <p:cNvPr id="8" name="row-title-0"/>
          <p:cNvSpPr txBox="1"/>
          <p:nvPr/>
        </p:nvSpPr>
        <p:spPr>
          <a:xfrm>
            <a:off x="1353312" y="2788920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Describa</a:t>
            </a:r>
          </a:p>
        </p:txBody>
      </p:sp>
      <p:sp>
        <p:nvSpPr>
          <p:cNvPr id="9" name="row-copy-0"/>
          <p:cNvSpPr txBox="1"/>
          <p:nvPr/>
        </p:nvSpPr>
        <p:spPr>
          <a:xfrm>
            <a:off x="4754880" y="2788920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Las cotas de sus variables y su función objetivo. Nada más.</a:t>
            </a:r>
          </a:p>
        </p:txBody>
      </p:sp>
      <p:sp>
        <p:nvSpPr>
          <p:cNvPr id="10" name="row-rule-0"/>
          <p:cNvSpPr/>
          <p:nvPr/>
        </p:nvSpPr>
        <p:spPr>
          <a:xfrm>
            <a:off x="1353312" y="3383279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w-num-1"/>
          <p:cNvSpPr txBox="1"/>
          <p:nvPr/>
        </p:nvSpPr>
        <p:spPr>
          <a:xfrm>
            <a:off x="530352" y="3570732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02</a:t>
            </a:r>
          </a:p>
        </p:txBody>
      </p:sp>
      <p:sp>
        <p:nvSpPr>
          <p:cNvPr id="12" name="row-title-1"/>
          <p:cNvSpPr txBox="1"/>
          <p:nvPr/>
        </p:nvSpPr>
        <p:spPr>
          <a:xfrm>
            <a:off x="1353312" y="357073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Corra</a:t>
            </a:r>
          </a:p>
        </p:txBody>
      </p:sp>
      <p:sp>
        <p:nvSpPr>
          <p:cNvPr id="13" name="row-copy-1"/>
          <p:cNvSpPr txBox="1"/>
          <p:nvPr/>
        </p:nvSpPr>
        <p:spPr>
          <a:xfrm>
            <a:off x="4754880" y="3570732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python3 tamizador.py — sin cuenta de IBM, sin hardware cuántico.</a:t>
            </a:r>
          </a:p>
        </p:txBody>
      </p:sp>
      <p:sp>
        <p:nvSpPr>
          <p:cNvPr id="14" name="row-rule-1"/>
          <p:cNvSpPr/>
          <p:nvPr/>
        </p:nvSpPr>
        <p:spPr>
          <a:xfrm>
            <a:off x="1353312" y="4165091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w-num-2"/>
          <p:cNvSpPr txBox="1"/>
          <p:nvPr/>
        </p:nvSpPr>
        <p:spPr>
          <a:xfrm>
            <a:off x="530352" y="4352544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03</a:t>
            </a:r>
          </a:p>
        </p:txBody>
      </p:sp>
      <p:sp>
        <p:nvSpPr>
          <p:cNvPr id="16" name="row-title-2"/>
          <p:cNvSpPr txBox="1"/>
          <p:nvPr/>
        </p:nvSpPr>
        <p:spPr>
          <a:xfrm>
            <a:off x="1353312" y="4352544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Lea</a:t>
            </a:r>
          </a:p>
        </p:txBody>
      </p:sp>
      <p:sp>
        <p:nvSpPr>
          <p:cNvPr id="17" name="row-copy-2"/>
          <p:cNvSpPr txBox="1"/>
          <p:nvPr/>
        </p:nvSpPr>
        <p:spPr>
          <a:xfrm>
            <a:off x="4754880" y="4352544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Cinco medidas con su umbral y un veredicto: NO DESCARTADO o NO-GO.</a:t>
            </a:r>
          </a:p>
        </p:txBody>
      </p:sp>
      <p:sp>
        <p:nvSpPr>
          <p:cNvPr id="18" name="row-rule-2"/>
          <p:cNvSpPr/>
          <p:nvPr/>
        </p:nvSpPr>
        <p:spPr>
          <a:xfrm>
            <a:off x="1353312" y="4946904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w-num-3"/>
          <p:cNvSpPr txBox="1"/>
          <p:nvPr/>
        </p:nvSpPr>
        <p:spPr>
          <a:xfrm>
            <a:off x="530352" y="5134356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04</a:t>
            </a:r>
          </a:p>
        </p:txBody>
      </p:sp>
      <p:sp>
        <p:nvSpPr>
          <p:cNvPr id="20" name="row-title-3"/>
          <p:cNvSpPr txBox="1"/>
          <p:nvPr/>
        </p:nvSpPr>
        <p:spPr>
          <a:xfrm>
            <a:off x="1353312" y="5134356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Decida</a:t>
            </a:r>
          </a:p>
        </p:txBody>
      </p:sp>
      <p:sp>
        <p:nvSpPr>
          <p:cNvPr id="21" name="row-copy-3"/>
          <p:cNvSpPr txBox="1"/>
          <p:nvPr/>
        </p:nvSpPr>
        <p:spPr>
          <a:xfrm>
            <a:off x="4754880" y="5134356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Si falla, ya sabe dónde invertir. Si pasa, hablamos.</a:t>
            </a:r>
          </a:p>
        </p:txBody>
      </p:sp>
      <p:sp>
        <p:nvSpPr>
          <p:cNvPr id="22" name="strip-bg"/>
          <p:cNvSpPr/>
          <p:nvPr/>
        </p:nvSpPr>
        <p:spPr>
          <a:xfrm>
            <a:off x="530352" y="5715000"/>
            <a:ext cx="11128248" cy="493776"/>
          </a:xfrm>
          <a:prstGeom prst="rect">
            <a:avLst/>
          </a:prstGeom>
          <a:solidFill>
            <a:srgbClr val="F0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strip-text"/>
          <p:cNvSpPr txBox="1"/>
          <p:nvPr/>
        </p:nvSpPr>
        <p:spPr>
          <a:xfrm>
            <a:off x="722375" y="5815584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E6007C"/>
                </a:solidFill>
                <a:latin typeface="Arial"/>
              </a:rPr>
              <a:t>github.com/lpachon/tamizador-cuantico   ·   20 minutos   ·   trabaje con quien tenga al lado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Todo esto se lo lleva puesto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53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530352" y="1773936"/>
            <a:ext cx="107624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75" b="0">
                <a:solidFill>
                  <a:srgbClr val="0B2D43"/>
                </a:solidFill>
                <a:latin typeface="Arial"/>
              </a:rPr>
              <a:t>Está en un repositorio público con licencia MIT. Apunte la cámara.</a:t>
            </a:r>
          </a:p>
        </p:txBody>
      </p:sp>
      <p:sp>
        <p:nvSpPr>
          <p:cNvPr id="7" name="qr-panel"/>
          <p:cNvSpPr/>
          <p:nvPr/>
        </p:nvSpPr>
        <p:spPr>
          <a:xfrm>
            <a:off x="530352" y="2194560"/>
            <a:ext cx="4160520" cy="3456432"/>
          </a:xfrm>
          <a:prstGeom prst="rect">
            <a:avLst/>
          </a:prstGeom>
          <a:solidFill>
            <a:srgbClr val="CD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12" y="2395728"/>
            <a:ext cx="2743200" cy="2743200"/>
          </a:xfrm>
          <a:prstGeom prst="rect">
            <a:avLst/>
          </a:prstGeom>
        </p:spPr>
      </p:pic>
      <p:sp>
        <p:nvSpPr>
          <p:cNvPr id="9" name="qr-url"/>
          <p:cNvSpPr txBox="1"/>
          <p:nvPr/>
        </p:nvSpPr>
        <p:spPr>
          <a:xfrm>
            <a:off x="530352" y="5285232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B2D43"/>
                </a:solidFill>
                <a:latin typeface="Arial"/>
              </a:rPr>
              <a:t>github.com/lpachon/tamizador-cuantico</a:t>
            </a:r>
          </a:p>
        </p:txBody>
      </p:sp>
      <p:sp>
        <p:nvSpPr>
          <p:cNvPr id="10" name="lleva-t-0"/>
          <p:cNvSpPr txBox="1"/>
          <p:nvPr/>
        </p:nvSpPr>
        <p:spPr>
          <a:xfrm>
            <a:off x="4983480" y="2395728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El tamizador</a:t>
            </a:r>
          </a:p>
        </p:txBody>
      </p:sp>
      <p:sp>
        <p:nvSpPr>
          <p:cNvPr id="11" name="lleva-c-0"/>
          <p:cNvSpPr txBox="1"/>
          <p:nvPr/>
        </p:nvSpPr>
        <p:spPr>
          <a:xfrm>
            <a:off x="4983480" y="2724912"/>
            <a:ext cx="6583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Las cinco medidas, los cuatro ejemplos y una plantilla para su problema.</a:t>
            </a:r>
          </a:p>
        </p:txBody>
      </p:sp>
      <p:sp>
        <p:nvSpPr>
          <p:cNvPr id="12" name="lleva-r-0"/>
          <p:cNvSpPr/>
          <p:nvPr/>
        </p:nvSpPr>
        <p:spPr>
          <a:xfrm>
            <a:off x="4983480" y="3145536"/>
            <a:ext cx="658368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lleva-t-1"/>
          <p:cNvSpPr txBox="1"/>
          <p:nvPr/>
        </p:nvSpPr>
        <p:spPr>
          <a:xfrm>
            <a:off x="4983480" y="3246120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El inventario criptográfico</a:t>
            </a:r>
          </a:p>
        </p:txBody>
      </p:sp>
      <p:sp>
        <p:nvSpPr>
          <p:cNvPr id="14" name="lleva-c-1"/>
          <p:cNvSpPr txBox="1"/>
          <p:nvPr/>
        </p:nvSpPr>
        <p:spPr>
          <a:xfrm>
            <a:off x="4983480" y="3575304"/>
            <a:ext cx="6583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La herramienta del otro reloj: su dominio, y la cuenta de Mosca.</a:t>
            </a:r>
          </a:p>
        </p:txBody>
      </p:sp>
      <p:sp>
        <p:nvSpPr>
          <p:cNvPr id="15" name="lleva-r-1"/>
          <p:cNvSpPr/>
          <p:nvPr/>
        </p:nvSpPr>
        <p:spPr>
          <a:xfrm>
            <a:off x="4983480" y="3995928"/>
            <a:ext cx="658368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lleva-t-2"/>
          <p:cNvSpPr txBox="1"/>
          <p:nvPr/>
        </p:nvSpPr>
        <p:spPr>
          <a:xfrm>
            <a:off x="4983480" y="4096512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La demostración</a:t>
            </a:r>
          </a:p>
        </p:txBody>
      </p:sp>
      <p:sp>
        <p:nvSpPr>
          <p:cNvPr id="17" name="lleva-c-2"/>
          <p:cNvSpPr txBox="1"/>
          <p:nvPr/>
        </p:nvSpPr>
        <p:spPr>
          <a:xfrm>
            <a:off x="4983480" y="4425696"/>
            <a:ext cx="6583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Las líneas de Qiskit que acaba de correr, con su control clásico.</a:t>
            </a:r>
          </a:p>
        </p:txBody>
      </p:sp>
      <p:sp>
        <p:nvSpPr>
          <p:cNvPr id="18" name="lleva-r-2"/>
          <p:cNvSpPr/>
          <p:nvPr/>
        </p:nvSpPr>
        <p:spPr>
          <a:xfrm>
            <a:off x="4983480" y="4846320"/>
            <a:ext cx="658368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lleva-t-3"/>
          <p:cNvSpPr txBox="1"/>
          <p:nvPr/>
        </p:nvSpPr>
        <p:spPr>
          <a:xfrm>
            <a:off x="4983480" y="4946904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3D3D3D"/>
                </a:solidFill>
                <a:latin typeface="Arial"/>
              </a:rPr>
              <a:t>Cómo seguir</a:t>
            </a:r>
          </a:p>
        </p:txBody>
      </p:sp>
      <p:sp>
        <p:nvSpPr>
          <p:cNvPr id="20" name="lleva-c-3"/>
          <p:cNvSpPr txBox="1"/>
          <p:nvPr/>
        </p:nvSpPr>
        <p:spPr>
          <a:xfrm>
            <a:off x="4983480" y="5276088"/>
            <a:ext cx="6583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Instalación, umbrales, errores y los 10 minutos gratis de procesador cuántico (QPU).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0352" y="283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0034"/>
                </a:solidFill>
                <a:latin typeface="Arial"/>
              </a:rPr>
              <a:t>COMPUTACIÓN CUÁNTICA PARA EMPRESAS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649224"/>
            <a:ext cx="11128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3D3D3D"/>
                </a:solidFill>
                <a:latin typeface="Arial"/>
              </a:rPr>
              <a:t>Tres movimientos, sin quemar presupuesto</a:t>
            </a:r>
          </a:p>
        </p:txBody>
      </p:sp>
      <p:sp>
        <p:nvSpPr>
          <p:cNvPr id="4" name="rule"/>
          <p:cNvSpPr/>
          <p:nvPr/>
        </p:nvSpPr>
        <p:spPr>
          <a:xfrm>
            <a:off x="530352" y="1472184"/>
            <a:ext cx="11128248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ageno"/>
          <p:cNvSpPr txBox="1"/>
          <p:nvPr/>
        </p:nvSpPr>
        <p:spPr>
          <a:xfrm>
            <a:off x="11146536" y="647395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626262"/>
                </a:solidFill>
                <a:latin typeface="Arial"/>
              </a:rPr>
              <a:t>54</a:t>
            </a:r>
          </a:p>
        </p:txBody>
      </p:sp>
      <p:sp>
        <p:nvSpPr>
          <p:cNvPr id="6" name="row-num-0"/>
          <p:cNvSpPr txBox="1"/>
          <p:nvPr/>
        </p:nvSpPr>
        <p:spPr>
          <a:xfrm>
            <a:off x="530352" y="2788920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01</a:t>
            </a:r>
          </a:p>
        </p:txBody>
      </p:sp>
      <p:sp>
        <p:nvSpPr>
          <p:cNvPr id="7" name="row-title-0"/>
          <p:cNvSpPr txBox="1"/>
          <p:nvPr/>
        </p:nvSpPr>
        <p:spPr>
          <a:xfrm>
            <a:off x="1353312" y="2788920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Este trimestre</a:t>
            </a:r>
          </a:p>
        </p:txBody>
      </p:sp>
      <p:sp>
        <p:nvSpPr>
          <p:cNvPr id="8" name="row-copy-0"/>
          <p:cNvSpPr txBox="1"/>
          <p:nvPr/>
        </p:nvSpPr>
        <p:spPr>
          <a:xfrm>
            <a:off x="4754880" y="2788920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Inventario criptográfico: qué algoritmo usa cada sistema y cuánto debe durar cada secreto.</a:t>
            </a:r>
          </a:p>
        </p:txBody>
      </p:sp>
      <p:sp>
        <p:nvSpPr>
          <p:cNvPr id="9" name="row-rule-0"/>
          <p:cNvSpPr/>
          <p:nvPr/>
        </p:nvSpPr>
        <p:spPr>
          <a:xfrm>
            <a:off x="1353312" y="3383279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w-num-1"/>
          <p:cNvSpPr txBox="1"/>
          <p:nvPr/>
        </p:nvSpPr>
        <p:spPr>
          <a:xfrm>
            <a:off x="530352" y="3570732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02</a:t>
            </a:r>
          </a:p>
        </p:txBody>
      </p:sp>
      <p:sp>
        <p:nvSpPr>
          <p:cNvPr id="11" name="row-title-1"/>
          <p:cNvSpPr txBox="1"/>
          <p:nvPr/>
        </p:nvSpPr>
        <p:spPr>
          <a:xfrm>
            <a:off x="1353312" y="357073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Este año</a:t>
            </a:r>
          </a:p>
        </p:txBody>
      </p:sp>
      <p:sp>
        <p:nvSpPr>
          <p:cNvPr id="12" name="row-copy-1"/>
          <p:cNvSpPr txBox="1"/>
          <p:nvPr/>
        </p:nvSpPr>
        <p:spPr>
          <a:xfrm>
            <a:off x="4754880" y="3570732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Un problema propio, tamizado y con su línea base clásica ya medida.</a:t>
            </a:r>
          </a:p>
        </p:txBody>
      </p:sp>
      <p:sp>
        <p:nvSpPr>
          <p:cNvPr id="13" name="row-rule-1"/>
          <p:cNvSpPr/>
          <p:nvPr/>
        </p:nvSpPr>
        <p:spPr>
          <a:xfrm>
            <a:off x="1353312" y="4165091"/>
            <a:ext cx="10076688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w-num-2"/>
          <p:cNvSpPr txBox="1"/>
          <p:nvPr/>
        </p:nvSpPr>
        <p:spPr>
          <a:xfrm>
            <a:off x="530352" y="4352544"/>
            <a:ext cx="667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6007C"/>
                </a:solidFill>
                <a:latin typeface="Arial"/>
              </a:rPr>
              <a:t>03</a:t>
            </a:r>
          </a:p>
        </p:txBody>
      </p:sp>
      <p:sp>
        <p:nvSpPr>
          <p:cNvPr id="15" name="row-title-2"/>
          <p:cNvSpPr txBox="1"/>
          <p:nvPr/>
        </p:nvSpPr>
        <p:spPr>
          <a:xfrm>
            <a:off x="1353312" y="4352544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3D3D3D"/>
                </a:solidFill>
                <a:latin typeface="Arial"/>
              </a:rPr>
              <a:t>Permanente</a:t>
            </a:r>
          </a:p>
        </p:txBody>
      </p:sp>
      <p:sp>
        <p:nvSpPr>
          <p:cNvPr id="16" name="row-copy-2"/>
          <p:cNvSpPr txBox="1"/>
          <p:nvPr/>
        </p:nvSpPr>
        <p:spPr>
          <a:xfrm>
            <a:off x="4754880" y="4352544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5" b="0">
                <a:solidFill>
                  <a:srgbClr val="626262"/>
                </a:solidFill>
                <a:latin typeface="Arial"/>
              </a:rPr>
              <a:t>Dos o tres personas formadas. Es el activo más barato y el más escaso del mercado.</a:t>
            </a:r>
          </a:p>
        </p:txBody>
      </p:sp>
      <p:sp>
        <p:nvSpPr>
          <p:cNvPr id="17" name="strip-bg"/>
          <p:cNvSpPr/>
          <p:nvPr/>
        </p:nvSpPr>
        <p:spPr>
          <a:xfrm>
            <a:off x="530352" y="5596128"/>
            <a:ext cx="11128248" cy="530352"/>
          </a:xfrm>
          <a:prstGeom prst="rect">
            <a:avLst/>
          </a:prstGeom>
          <a:solidFill>
            <a:srgbClr val="F0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strip-text"/>
          <p:cNvSpPr txBox="1"/>
          <p:nvPr/>
        </p:nvSpPr>
        <p:spPr>
          <a:xfrm>
            <a:off x="722375" y="5733288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75" b="1">
                <a:solidFill>
                  <a:srgbClr val="E6007C"/>
                </a:solidFill>
                <a:latin typeface="Arial"/>
              </a:rPr>
              <a:t>Desconfíe de quien le prometa ahorro operativo cuántico en 2026: hoy el retorno es aprendizaje, no caja.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ta-brand-rail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cta-kicker"/>
          <p:cNvSpPr txBox="1"/>
          <p:nvPr/>
        </p:nvSpPr>
        <p:spPr>
          <a:xfrm>
            <a:off x="594360" y="512064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DEAFA"/>
                </a:solidFill>
                <a:latin typeface="Arial"/>
              </a:rPr>
              <a:t>COMPUTACIÓN CUÁNTICA</a:t>
            </a:r>
          </a:p>
        </p:txBody>
      </p:sp>
      <p:sp>
        <p:nvSpPr>
          <p:cNvPr id="4" name="cta-title"/>
          <p:cNvSpPr txBox="1"/>
          <p:nvPr/>
        </p:nvSpPr>
        <p:spPr>
          <a:xfrm>
            <a:off x="594360" y="1124712"/>
            <a:ext cx="752551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Arial"/>
              </a:rPr>
              <a:t>Su problema tiene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Arial"/>
              </a:rPr>
              <a:t>una respuesta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Arial"/>
              </a:rPr>
              <a:t>honesta.</a:t>
            </a:r>
          </a:p>
        </p:txBody>
      </p:sp>
      <p:sp>
        <p:nvSpPr>
          <p:cNvPr id="5" name="cta-steps"/>
          <p:cNvSpPr txBox="1"/>
          <p:nvPr/>
        </p:nvSpPr>
        <p:spPr>
          <a:xfrm>
            <a:off x="612648" y="3337560"/>
            <a:ext cx="89519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1">
                <a:solidFill>
                  <a:srgbClr val="FFFFFF"/>
                </a:solidFill>
                <a:latin typeface="Arial"/>
              </a:rPr>
              <a:t>1  Tamice   2  Mida la base clásica   3  Decida con evidencia</a:t>
            </a:r>
          </a:p>
        </p:txBody>
      </p:sp>
      <p:sp>
        <p:nvSpPr>
          <p:cNvPr id="6" name="cta-link-bg"/>
          <p:cNvSpPr/>
          <p:nvPr/>
        </p:nvSpPr>
        <p:spPr>
          <a:xfrm>
            <a:off x="594360" y="4242816"/>
            <a:ext cx="11009376" cy="1069848"/>
          </a:xfrm>
          <a:prstGeom prst="rect">
            <a:avLst/>
          </a:prstGeom>
          <a:solidFill>
            <a:srgbClr val="DD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cta-link-label"/>
          <p:cNvSpPr txBox="1"/>
          <p:nvPr/>
        </p:nvSpPr>
        <p:spPr>
          <a:xfrm>
            <a:off x="877824" y="4407408"/>
            <a:ext cx="36576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FFFFFF"/>
                </a:solidFill>
                <a:latin typeface="Arial"/>
              </a:rPr>
              <a:t>EL CÓDIGO DEL TALLER</a:t>
            </a:r>
          </a:p>
        </p:txBody>
      </p:sp>
      <p:sp>
        <p:nvSpPr>
          <p:cNvPr id="8" name="cta-link"/>
          <p:cNvSpPr txBox="1"/>
          <p:nvPr/>
        </p:nvSpPr>
        <p:spPr>
          <a:xfrm>
            <a:off x="877824" y="4764024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25" b="1">
                <a:solidFill>
                  <a:srgbClr val="FFFFFF"/>
                </a:solidFill>
                <a:latin typeface="Arial"/>
              </a:rPr>
              <a:t>https://github.com/lpachon/tamizador-cuantico</a:t>
            </a:r>
          </a:p>
        </p:txBody>
      </p:sp>
      <p:sp>
        <p:nvSpPr>
          <p:cNvPr id="9" name="cta-close"/>
          <p:cNvSpPr txBox="1"/>
          <p:nvPr/>
        </p:nvSpPr>
        <p:spPr>
          <a:xfrm>
            <a:off x="594360" y="5907024"/>
            <a:ext cx="66659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>
                <a:solidFill>
                  <a:srgbClr val="CDEAFA"/>
                </a:solidFill>
                <a:latin typeface="Arial"/>
              </a:rPr>
              <a:t>Clúster Tecnología &amp; Economía del Conocimiento</a:t>
            </a:r>
          </a:p>
        </p:txBody>
      </p:sp>
      <p:sp>
        <p:nvSpPr>
          <p:cNvPr id="10" name="cta-brand-card"/>
          <p:cNvSpPr/>
          <p:nvPr/>
        </p:nvSpPr>
        <p:spPr>
          <a:xfrm>
            <a:off x="7351775" y="5559552"/>
            <a:ext cx="4251960" cy="978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cta-qr-card"/>
          <p:cNvSpPr/>
          <p:nvPr/>
        </p:nvSpPr>
        <p:spPr>
          <a:xfrm>
            <a:off x="8275320" y="1060704"/>
            <a:ext cx="3127248" cy="3127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4" y="1252728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